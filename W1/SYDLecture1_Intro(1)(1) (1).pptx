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333" r:id="rId3"/>
    <p:sldId id="257" r:id="rId4"/>
    <p:sldId id="307" r:id="rId5"/>
    <p:sldId id="308" r:id="rId6"/>
    <p:sldId id="301" r:id="rId7"/>
    <p:sldId id="334" r:id="rId8"/>
    <p:sldId id="442" r:id="rId9"/>
    <p:sldId id="443" r:id="rId10"/>
    <p:sldId id="444" r:id="rId11"/>
    <p:sldId id="445" r:id="rId12"/>
    <p:sldId id="309" r:id="rId13"/>
    <p:sldId id="310" r:id="rId14"/>
    <p:sldId id="311" r:id="rId15"/>
    <p:sldId id="312" r:id="rId16"/>
    <p:sldId id="313" r:id="rId17"/>
    <p:sldId id="314" r:id="rId18"/>
    <p:sldId id="315" r:id="rId19"/>
    <p:sldId id="316" r:id="rId20"/>
    <p:sldId id="317" r:id="rId21"/>
    <p:sldId id="318" r:id="rId22"/>
    <p:sldId id="336" r:id="rId23"/>
    <p:sldId id="319" r:id="rId24"/>
    <p:sldId id="320" r:id="rId25"/>
    <p:sldId id="321" r:id="rId26"/>
    <p:sldId id="322" r:id="rId27"/>
    <p:sldId id="323" r:id="rId28"/>
    <p:sldId id="324" r:id="rId29"/>
    <p:sldId id="325" r:id="rId30"/>
    <p:sldId id="326" r:id="rId31"/>
    <p:sldId id="327" r:id="rId32"/>
    <p:sldId id="328" r:id="rId33"/>
    <p:sldId id="329" r:id="rId34"/>
    <p:sldId id="330" r:id="rId35"/>
    <p:sldId id="331" r:id="rId36"/>
    <p:sldId id="33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85008E-66A4-4EF3-B714-4F63FA38BBDE}" v="19" dt="2019-01-04T03:10:50.5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2" d="100"/>
          <a:sy n="62" d="100"/>
        </p:scale>
        <p:origin x="84" y="144"/>
      </p:cViewPr>
      <p:guideLst/>
    </p:cSldViewPr>
  </p:slideViewPr>
  <p:notesTextViewPr>
    <p:cViewPr>
      <p:scale>
        <a:sx n="1" d="1"/>
        <a:sy n="1" d="1"/>
      </p:scale>
      <p:origin x="0" y="0"/>
    </p:cViewPr>
  </p:notesTextViewPr>
  <p:sorterViewPr>
    <p:cViewPr>
      <p:scale>
        <a:sx n="100" d="100"/>
        <a:sy n="100" d="100"/>
      </p:scale>
      <p:origin x="0" y="-1108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bara Czegel" userId="53dc7cdda7b95187" providerId="LiveId" clId="{2185008E-66A4-4EF3-B714-4F63FA38BBDE}"/>
    <pc:docChg chg="custSel addSld delSld modSld">
      <pc:chgData name="Barbara Czegel" userId="53dc7cdda7b95187" providerId="LiveId" clId="{2185008E-66A4-4EF3-B714-4F63FA38BBDE}" dt="2019-01-04T03:12:20.211" v="434" actId="20577"/>
      <pc:docMkLst>
        <pc:docMk/>
      </pc:docMkLst>
      <pc:sldChg chg="addSp modSp">
        <pc:chgData name="Barbara Czegel" userId="53dc7cdda7b95187" providerId="LiveId" clId="{2185008E-66A4-4EF3-B714-4F63FA38BBDE}" dt="2019-01-04T02:58:24.055" v="95" actId="1076"/>
        <pc:sldMkLst>
          <pc:docMk/>
          <pc:sldMk cId="0" sldId="259"/>
        </pc:sldMkLst>
        <pc:spChg chg="add mod">
          <ac:chgData name="Barbara Czegel" userId="53dc7cdda7b95187" providerId="LiveId" clId="{2185008E-66A4-4EF3-B714-4F63FA38BBDE}" dt="2019-01-04T02:56:34.104" v="82" actId="207"/>
          <ac:spMkLst>
            <pc:docMk/>
            <pc:sldMk cId="0" sldId="259"/>
            <ac:spMk id="5" creationId="{DA5267C2-963D-4850-8D69-327CF5C3F64B}"/>
          </ac:spMkLst>
        </pc:spChg>
        <pc:spChg chg="add mod">
          <ac:chgData name="Barbara Czegel" userId="53dc7cdda7b95187" providerId="LiveId" clId="{2185008E-66A4-4EF3-B714-4F63FA38BBDE}" dt="2019-01-04T02:58:24.055" v="95" actId="1076"/>
          <ac:spMkLst>
            <pc:docMk/>
            <pc:sldMk cId="0" sldId="259"/>
            <ac:spMk id="7" creationId="{8B5E7060-C424-4C71-83E8-EF7A028DC40F}"/>
          </ac:spMkLst>
        </pc:spChg>
        <pc:spChg chg="mod">
          <ac:chgData name="Barbara Czegel" userId="53dc7cdda7b95187" providerId="LiveId" clId="{2185008E-66A4-4EF3-B714-4F63FA38BBDE}" dt="2019-01-04T02:55:27.488" v="77" actId="20577"/>
          <ac:spMkLst>
            <pc:docMk/>
            <pc:sldMk cId="0" sldId="259"/>
            <ac:spMk id="13" creationId="{00000000-0000-0000-0000-000000000000}"/>
          </ac:spMkLst>
        </pc:spChg>
        <pc:spChg chg="mod">
          <ac:chgData name="Barbara Czegel" userId="53dc7cdda7b95187" providerId="LiveId" clId="{2185008E-66A4-4EF3-B714-4F63FA38BBDE}" dt="2019-01-04T02:57:52.661" v="93" actId="1076"/>
          <ac:spMkLst>
            <pc:docMk/>
            <pc:sldMk cId="0" sldId="259"/>
            <ac:spMk id="14" creationId="{00000000-0000-0000-0000-000000000000}"/>
          </ac:spMkLst>
        </pc:spChg>
        <pc:spChg chg="mod">
          <ac:chgData name="Barbara Czegel" userId="53dc7cdda7b95187" providerId="LiveId" clId="{2185008E-66A4-4EF3-B714-4F63FA38BBDE}" dt="2019-01-04T02:57:32.489" v="90" actId="1076"/>
          <ac:spMkLst>
            <pc:docMk/>
            <pc:sldMk cId="0" sldId="259"/>
            <ac:spMk id="16" creationId="{00000000-0000-0000-0000-000000000000}"/>
          </ac:spMkLst>
        </pc:spChg>
      </pc:sldChg>
      <pc:sldChg chg="modSp del">
        <pc:chgData name="Barbara Czegel" userId="53dc7cdda7b95187" providerId="LiveId" clId="{2185008E-66A4-4EF3-B714-4F63FA38BBDE}" dt="2019-01-04T02:58:48.193" v="96" actId="2696"/>
        <pc:sldMkLst>
          <pc:docMk/>
          <pc:sldMk cId="0" sldId="288"/>
        </pc:sldMkLst>
        <pc:spChg chg="mod">
          <ac:chgData name="Barbara Czegel" userId="53dc7cdda7b95187" providerId="LiveId" clId="{2185008E-66A4-4EF3-B714-4F63FA38BBDE}" dt="2019-01-04T02:54:49.892" v="44" actId="20577"/>
          <ac:spMkLst>
            <pc:docMk/>
            <pc:sldMk cId="0" sldId="288"/>
            <ac:spMk id="13" creationId="{00000000-0000-0000-0000-000000000000}"/>
          </ac:spMkLst>
        </pc:spChg>
      </pc:sldChg>
      <pc:sldChg chg="modSp add">
        <pc:chgData name="Barbara Czegel" userId="53dc7cdda7b95187" providerId="LiveId" clId="{2185008E-66A4-4EF3-B714-4F63FA38BBDE}" dt="2019-01-04T02:53:53.282" v="11" actId="20577"/>
        <pc:sldMkLst>
          <pc:docMk/>
          <pc:sldMk cId="0" sldId="301"/>
        </pc:sldMkLst>
        <pc:spChg chg="mod">
          <ac:chgData name="Barbara Czegel" userId="53dc7cdda7b95187" providerId="LiveId" clId="{2185008E-66A4-4EF3-B714-4F63FA38BBDE}" dt="2019-01-04T02:53:53.282" v="11" actId="20577"/>
          <ac:spMkLst>
            <pc:docMk/>
            <pc:sldMk cId="0" sldId="301"/>
            <ac:spMk id="4" creationId="{00000000-0000-0000-0000-000000000000}"/>
          </ac:spMkLst>
        </pc:spChg>
        <pc:spChg chg="mod">
          <ac:chgData name="Barbara Czegel" userId="53dc7cdda7b95187" providerId="LiveId" clId="{2185008E-66A4-4EF3-B714-4F63FA38BBDE}" dt="2019-01-04T02:53:47.370" v="1" actId="6549"/>
          <ac:spMkLst>
            <pc:docMk/>
            <pc:sldMk cId="0" sldId="301"/>
            <ac:spMk id="5" creationId="{00000000-0000-0000-0000-000000000000}"/>
          </ac:spMkLst>
        </pc:spChg>
      </pc:sldChg>
      <pc:sldChg chg="modSp add">
        <pc:chgData name="Barbara Czegel" userId="53dc7cdda7b95187" providerId="LiveId" clId="{2185008E-66A4-4EF3-B714-4F63FA38BBDE}" dt="2019-01-04T03:05:23.139" v="201" actId="20577"/>
        <pc:sldMkLst>
          <pc:docMk/>
          <pc:sldMk cId="4036961438" sldId="302"/>
        </pc:sldMkLst>
        <pc:spChg chg="mod">
          <ac:chgData name="Barbara Czegel" userId="53dc7cdda7b95187" providerId="LiveId" clId="{2185008E-66A4-4EF3-B714-4F63FA38BBDE}" dt="2019-01-04T03:05:23.139" v="201" actId="20577"/>
          <ac:spMkLst>
            <pc:docMk/>
            <pc:sldMk cId="4036961438" sldId="302"/>
            <ac:spMk id="2" creationId="{F92583DB-EF1A-424D-A4FC-8F092DD583C6}"/>
          </ac:spMkLst>
        </pc:spChg>
      </pc:sldChg>
      <pc:sldChg chg="addSp delSp modSp add">
        <pc:chgData name="Barbara Czegel" userId="53dc7cdda7b95187" providerId="LiveId" clId="{2185008E-66A4-4EF3-B714-4F63FA38BBDE}" dt="2019-01-04T03:05:31.538" v="202" actId="20577"/>
        <pc:sldMkLst>
          <pc:docMk/>
          <pc:sldMk cId="1376712090" sldId="303"/>
        </pc:sldMkLst>
        <pc:spChg chg="del">
          <ac:chgData name="Barbara Czegel" userId="53dc7cdda7b95187" providerId="LiveId" clId="{2185008E-66A4-4EF3-B714-4F63FA38BBDE}" dt="2019-01-04T03:02:52.072" v="117"/>
          <ac:spMkLst>
            <pc:docMk/>
            <pc:sldMk cId="1376712090" sldId="303"/>
            <ac:spMk id="2" creationId="{4BA91D34-6C53-4F3A-8ED7-039C9944C6CB}"/>
          </ac:spMkLst>
        </pc:spChg>
        <pc:spChg chg="del">
          <ac:chgData name="Barbara Czegel" userId="53dc7cdda7b95187" providerId="LiveId" clId="{2185008E-66A4-4EF3-B714-4F63FA38BBDE}" dt="2019-01-04T03:02:52.072" v="117"/>
          <ac:spMkLst>
            <pc:docMk/>
            <pc:sldMk cId="1376712090" sldId="303"/>
            <ac:spMk id="3" creationId="{E966A992-6B06-4CF2-AC4E-88EA361FF69F}"/>
          </ac:spMkLst>
        </pc:spChg>
        <pc:spChg chg="add mod">
          <ac:chgData name="Barbara Czegel" userId="53dc7cdda7b95187" providerId="LiveId" clId="{2185008E-66A4-4EF3-B714-4F63FA38BBDE}" dt="2019-01-04T03:05:31.538" v="202" actId="20577"/>
          <ac:spMkLst>
            <pc:docMk/>
            <pc:sldMk cId="1376712090" sldId="303"/>
            <ac:spMk id="4" creationId="{5D789BFA-AB88-4CCF-8C50-53A1228D7C15}"/>
          </ac:spMkLst>
        </pc:spChg>
        <pc:spChg chg="add del mod">
          <ac:chgData name="Barbara Czegel" userId="53dc7cdda7b95187" providerId="LiveId" clId="{2185008E-66A4-4EF3-B714-4F63FA38BBDE}" dt="2019-01-04T03:03:02.039" v="118" actId="478"/>
          <ac:spMkLst>
            <pc:docMk/>
            <pc:sldMk cId="1376712090" sldId="303"/>
            <ac:spMk id="5" creationId="{1C1BA481-0ED4-464D-A7A7-F5011133AFF7}"/>
          </ac:spMkLst>
        </pc:spChg>
        <pc:spChg chg="add del">
          <ac:chgData name="Barbara Czegel" userId="53dc7cdda7b95187" providerId="LiveId" clId="{2185008E-66A4-4EF3-B714-4F63FA38BBDE}" dt="2019-01-04T03:03:08.324" v="120" actId="478"/>
          <ac:spMkLst>
            <pc:docMk/>
            <pc:sldMk cId="1376712090" sldId="303"/>
            <ac:spMk id="7" creationId="{5C812BF0-7A4B-4D27-9837-0B2D870ED8E4}"/>
          </ac:spMkLst>
        </pc:spChg>
        <pc:spChg chg="add del">
          <ac:chgData name="Barbara Czegel" userId="53dc7cdda7b95187" providerId="LiveId" clId="{2185008E-66A4-4EF3-B714-4F63FA38BBDE}" dt="2019-01-04T03:03:21.501" v="123" actId="478"/>
          <ac:spMkLst>
            <pc:docMk/>
            <pc:sldMk cId="1376712090" sldId="303"/>
            <ac:spMk id="9" creationId="{C2CCAADA-944F-4373-BA13-1BD7D399BDC0}"/>
          </ac:spMkLst>
        </pc:spChg>
        <pc:graphicFrameChg chg="add del">
          <ac:chgData name="Barbara Czegel" userId="53dc7cdda7b95187" providerId="LiveId" clId="{2185008E-66A4-4EF3-B714-4F63FA38BBDE}" dt="2019-01-04T03:03:08.324" v="120" actId="478"/>
          <ac:graphicFrameMkLst>
            <pc:docMk/>
            <pc:sldMk cId="1376712090" sldId="303"/>
            <ac:graphicFrameMk id="6" creationId="{A262CA0C-DCD8-4CED-959A-F4FDE851112A}"/>
          </ac:graphicFrameMkLst>
        </pc:graphicFrameChg>
        <pc:graphicFrameChg chg="add del modGraphic">
          <ac:chgData name="Barbara Czegel" userId="53dc7cdda7b95187" providerId="LiveId" clId="{2185008E-66A4-4EF3-B714-4F63FA38BBDE}" dt="2019-01-04T03:03:21.501" v="123" actId="478"/>
          <ac:graphicFrameMkLst>
            <pc:docMk/>
            <pc:sldMk cId="1376712090" sldId="303"/>
            <ac:graphicFrameMk id="8" creationId="{0D696B42-CC61-4624-8863-2CEDFEB2764E}"/>
          </ac:graphicFrameMkLst>
        </pc:graphicFrameChg>
        <pc:graphicFrameChg chg="add mod modGraphic">
          <ac:chgData name="Barbara Czegel" userId="53dc7cdda7b95187" providerId="LiveId" clId="{2185008E-66A4-4EF3-B714-4F63FA38BBDE}" dt="2019-01-04T03:04:28.383" v="152" actId="20577"/>
          <ac:graphicFrameMkLst>
            <pc:docMk/>
            <pc:sldMk cId="1376712090" sldId="303"/>
            <ac:graphicFrameMk id="10" creationId="{2F6D3D0E-29AB-4C03-8DB0-4CAD1ACEEA69}"/>
          </ac:graphicFrameMkLst>
        </pc:graphicFrameChg>
      </pc:sldChg>
      <pc:sldChg chg="addSp delSp modSp add">
        <pc:chgData name="Barbara Czegel" userId="53dc7cdda7b95187" providerId="LiveId" clId="{2185008E-66A4-4EF3-B714-4F63FA38BBDE}" dt="2019-01-04T03:07:35.461" v="253" actId="20577"/>
        <pc:sldMkLst>
          <pc:docMk/>
          <pc:sldMk cId="424514043" sldId="304"/>
        </pc:sldMkLst>
        <pc:spChg chg="mod">
          <ac:chgData name="Barbara Czegel" userId="53dc7cdda7b95187" providerId="LiveId" clId="{2185008E-66A4-4EF3-B714-4F63FA38BBDE}" dt="2019-01-04T03:06:02.281" v="232" actId="20577"/>
          <ac:spMkLst>
            <pc:docMk/>
            <pc:sldMk cId="424514043" sldId="304"/>
            <ac:spMk id="4" creationId="{5D789BFA-AB88-4CCF-8C50-53A1228D7C15}"/>
          </ac:spMkLst>
        </pc:spChg>
        <pc:graphicFrameChg chg="add mod modGraphic">
          <ac:chgData name="Barbara Czegel" userId="53dc7cdda7b95187" providerId="LiveId" clId="{2185008E-66A4-4EF3-B714-4F63FA38BBDE}" dt="2019-01-04T03:07:35.461" v="253" actId="20577"/>
          <ac:graphicFrameMkLst>
            <pc:docMk/>
            <pc:sldMk cId="424514043" sldId="304"/>
            <ac:graphicFrameMk id="2" creationId="{1A95DFE6-409C-4962-8B94-CE8CEA5ED288}"/>
          </ac:graphicFrameMkLst>
        </pc:graphicFrameChg>
        <pc:graphicFrameChg chg="del mod modGraphic">
          <ac:chgData name="Barbara Czegel" userId="53dc7cdda7b95187" providerId="LiveId" clId="{2185008E-66A4-4EF3-B714-4F63FA38BBDE}" dt="2019-01-04T03:06:06.689" v="234" actId="478"/>
          <ac:graphicFrameMkLst>
            <pc:docMk/>
            <pc:sldMk cId="424514043" sldId="304"/>
            <ac:graphicFrameMk id="10" creationId="{2F6D3D0E-29AB-4C03-8DB0-4CAD1ACEEA69}"/>
          </ac:graphicFrameMkLst>
        </pc:graphicFrameChg>
      </pc:sldChg>
      <pc:sldChg chg="addSp delSp modSp add">
        <pc:chgData name="Barbara Czegel" userId="53dc7cdda7b95187" providerId="LiveId" clId="{2185008E-66A4-4EF3-B714-4F63FA38BBDE}" dt="2019-01-04T03:09:49.481" v="301" actId="20577"/>
        <pc:sldMkLst>
          <pc:docMk/>
          <pc:sldMk cId="52175120" sldId="305"/>
        </pc:sldMkLst>
        <pc:spChg chg="mod">
          <ac:chgData name="Barbara Czegel" userId="53dc7cdda7b95187" providerId="LiveId" clId="{2185008E-66A4-4EF3-B714-4F63FA38BBDE}" dt="2019-01-04T03:08:44.472" v="280" actId="20577"/>
          <ac:spMkLst>
            <pc:docMk/>
            <pc:sldMk cId="52175120" sldId="305"/>
            <ac:spMk id="4" creationId="{5D789BFA-AB88-4CCF-8C50-53A1228D7C15}"/>
          </ac:spMkLst>
        </pc:spChg>
        <pc:graphicFrameChg chg="del modGraphic">
          <ac:chgData name="Barbara Czegel" userId="53dc7cdda7b95187" providerId="LiveId" clId="{2185008E-66A4-4EF3-B714-4F63FA38BBDE}" dt="2019-01-04T03:08:30.458" v="259" actId="478"/>
          <ac:graphicFrameMkLst>
            <pc:docMk/>
            <pc:sldMk cId="52175120" sldId="305"/>
            <ac:graphicFrameMk id="2" creationId="{1A95DFE6-409C-4962-8B94-CE8CEA5ED288}"/>
          </ac:graphicFrameMkLst>
        </pc:graphicFrameChg>
        <pc:graphicFrameChg chg="add mod modGraphic">
          <ac:chgData name="Barbara Czegel" userId="53dc7cdda7b95187" providerId="LiveId" clId="{2185008E-66A4-4EF3-B714-4F63FA38BBDE}" dt="2019-01-04T03:09:49.481" v="301" actId="20577"/>
          <ac:graphicFrameMkLst>
            <pc:docMk/>
            <pc:sldMk cId="52175120" sldId="305"/>
            <ac:graphicFrameMk id="3" creationId="{6A40D643-5875-43A5-8336-36D293E86BA6}"/>
          </ac:graphicFrameMkLst>
        </pc:graphicFrameChg>
      </pc:sldChg>
      <pc:sldChg chg="addSp delSp modSp add">
        <pc:chgData name="Barbara Czegel" userId="53dc7cdda7b95187" providerId="LiveId" clId="{2185008E-66A4-4EF3-B714-4F63FA38BBDE}" dt="2019-01-04T03:12:20.211" v="434" actId="20577"/>
        <pc:sldMkLst>
          <pc:docMk/>
          <pc:sldMk cId="2508904944" sldId="306"/>
        </pc:sldMkLst>
        <pc:spChg chg="del">
          <ac:chgData name="Barbara Czegel" userId="53dc7cdda7b95187" providerId="LiveId" clId="{2185008E-66A4-4EF3-B714-4F63FA38BBDE}" dt="2019-01-04T03:10:19.543" v="303"/>
          <ac:spMkLst>
            <pc:docMk/>
            <pc:sldMk cId="2508904944" sldId="306"/>
            <ac:spMk id="2" creationId="{5A6D8581-9842-45C0-B23B-44F53C14F8CB}"/>
          </ac:spMkLst>
        </pc:spChg>
        <pc:spChg chg="del">
          <ac:chgData name="Barbara Czegel" userId="53dc7cdda7b95187" providerId="LiveId" clId="{2185008E-66A4-4EF3-B714-4F63FA38BBDE}" dt="2019-01-04T03:10:19.543" v="303"/>
          <ac:spMkLst>
            <pc:docMk/>
            <pc:sldMk cId="2508904944" sldId="306"/>
            <ac:spMk id="3" creationId="{004ECF2D-7472-433D-8D62-82AB76C2404A}"/>
          </ac:spMkLst>
        </pc:spChg>
        <pc:spChg chg="add mod">
          <ac:chgData name="Barbara Czegel" userId="53dc7cdda7b95187" providerId="LiveId" clId="{2185008E-66A4-4EF3-B714-4F63FA38BBDE}" dt="2019-01-04T03:10:58.805" v="325" actId="20577"/>
          <ac:spMkLst>
            <pc:docMk/>
            <pc:sldMk cId="2508904944" sldId="306"/>
            <ac:spMk id="4" creationId="{E1ED07D3-D0D7-41AF-9F05-87762674BBB5}"/>
          </ac:spMkLst>
        </pc:spChg>
        <pc:spChg chg="add mod">
          <ac:chgData name="Barbara Czegel" userId="53dc7cdda7b95187" providerId="LiveId" clId="{2185008E-66A4-4EF3-B714-4F63FA38BBDE}" dt="2019-01-04T03:12:20.211" v="434" actId="20577"/>
          <ac:spMkLst>
            <pc:docMk/>
            <pc:sldMk cId="2508904944" sldId="306"/>
            <ac:spMk id="5" creationId="{7CE6FC51-B6B1-4851-9D45-EFBA61B2AED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4F0017-8479-4163-9863-3E5CF0BE1DA6}" type="doc">
      <dgm:prSet loTypeId="urn:microsoft.com/office/officeart/2005/8/layout/cycle5" loCatId="cycle" qsTypeId="urn:microsoft.com/office/officeart/2005/8/quickstyle/simple1" qsCatId="simple" csTypeId="urn:microsoft.com/office/officeart/2005/8/colors/colorful1" csCatId="colorful" phldr="1"/>
      <dgm:spPr/>
      <dgm:t>
        <a:bodyPr/>
        <a:lstStyle/>
        <a:p>
          <a:endParaRPr lang="en-CA"/>
        </a:p>
      </dgm:t>
    </dgm:pt>
    <dgm:pt modelId="{9D456414-6199-4920-9670-4409ED4530A0}">
      <dgm:prSet phldrT="[Text]" custT="1"/>
      <dgm:spPr>
        <a:ln w="19050">
          <a:solidFill>
            <a:srgbClr val="FFFFFF"/>
          </a:solidFill>
        </a:ln>
      </dgm:spPr>
      <dgm:t>
        <a:bodyPr/>
        <a:lstStyle/>
        <a:p>
          <a:r>
            <a:rPr lang="en-CA" sz="1600" b="1" dirty="0"/>
            <a:t>Analysis</a:t>
          </a:r>
        </a:p>
      </dgm:t>
    </dgm:pt>
    <dgm:pt modelId="{626F8E55-C090-43EA-BD31-ECDC8A5065A0}" type="parTrans" cxnId="{83DF4753-5CD9-4603-82EA-1B9F5B0AEC95}">
      <dgm:prSet/>
      <dgm:spPr/>
      <dgm:t>
        <a:bodyPr/>
        <a:lstStyle/>
        <a:p>
          <a:endParaRPr lang="en-CA"/>
        </a:p>
      </dgm:t>
    </dgm:pt>
    <dgm:pt modelId="{2277B785-4402-445D-818C-5DDE03E7B2B3}" type="sibTrans" cxnId="{83DF4753-5CD9-4603-82EA-1B9F5B0AEC95}">
      <dgm:prSet/>
      <dgm:spPr>
        <a:ln w="57150">
          <a:solidFill>
            <a:schemeClr val="bg1">
              <a:lumMod val="50000"/>
            </a:schemeClr>
          </a:solidFill>
        </a:ln>
      </dgm:spPr>
      <dgm:t>
        <a:bodyPr/>
        <a:lstStyle/>
        <a:p>
          <a:endParaRPr lang="en-CA">
            <a:ln w="38100">
              <a:solidFill>
                <a:schemeClr val="tx1"/>
              </a:solidFill>
            </a:ln>
          </a:endParaRPr>
        </a:p>
      </dgm:t>
    </dgm:pt>
    <dgm:pt modelId="{556B3D5B-0645-4494-992B-442408785026}">
      <dgm:prSet phldrT="[Text]" custT="1"/>
      <dgm:spPr>
        <a:ln w="19050">
          <a:solidFill>
            <a:srgbClr val="FFFFFF"/>
          </a:solidFill>
        </a:ln>
      </dgm:spPr>
      <dgm:t>
        <a:bodyPr/>
        <a:lstStyle/>
        <a:p>
          <a:r>
            <a:rPr lang="en-CA" sz="1600" b="1" dirty="0"/>
            <a:t>Design</a:t>
          </a:r>
        </a:p>
      </dgm:t>
    </dgm:pt>
    <dgm:pt modelId="{98791469-6380-497F-83B2-AE18A91A31D5}" type="parTrans" cxnId="{82F81A5E-189C-42B7-877D-7B97C1B41352}">
      <dgm:prSet/>
      <dgm:spPr/>
      <dgm:t>
        <a:bodyPr/>
        <a:lstStyle/>
        <a:p>
          <a:endParaRPr lang="en-CA"/>
        </a:p>
      </dgm:t>
    </dgm:pt>
    <dgm:pt modelId="{B70AA2FE-7464-4A56-A30F-5FF5C7533DE0}" type="sibTrans" cxnId="{82F81A5E-189C-42B7-877D-7B97C1B41352}">
      <dgm:prSet/>
      <dgm:spPr>
        <a:ln w="57150">
          <a:solidFill>
            <a:schemeClr val="bg1">
              <a:lumMod val="50000"/>
            </a:schemeClr>
          </a:solidFill>
        </a:ln>
      </dgm:spPr>
      <dgm:t>
        <a:bodyPr/>
        <a:lstStyle/>
        <a:p>
          <a:endParaRPr lang="en-CA"/>
        </a:p>
      </dgm:t>
    </dgm:pt>
    <dgm:pt modelId="{10140FF2-E530-4BF7-98E9-06EC5B23994C}">
      <dgm:prSet phldrT="[Text]" custT="1"/>
      <dgm:spPr>
        <a:ln w="19050">
          <a:solidFill>
            <a:srgbClr val="FFFFFF"/>
          </a:solidFill>
        </a:ln>
      </dgm:spPr>
      <dgm:t>
        <a:bodyPr/>
        <a:lstStyle/>
        <a:p>
          <a:r>
            <a:rPr lang="en-CA" sz="1600" b="1" dirty="0"/>
            <a:t>Implementation</a:t>
          </a:r>
        </a:p>
      </dgm:t>
    </dgm:pt>
    <dgm:pt modelId="{A5634268-DE9E-4B7B-BB4B-2B23FF293AEA}" type="parTrans" cxnId="{DB0722F7-6654-4FA2-A18A-E8271537579C}">
      <dgm:prSet/>
      <dgm:spPr/>
      <dgm:t>
        <a:bodyPr/>
        <a:lstStyle/>
        <a:p>
          <a:endParaRPr lang="en-CA"/>
        </a:p>
      </dgm:t>
    </dgm:pt>
    <dgm:pt modelId="{5ED8E126-D2C5-4367-A58B-6945B50F66D9}" type="sibTrans" cxnId="{DB0722F7-6654-4FA2-A18A-E8271537579C}">
      <dgm:prSet/>
      <dgm:spPr>
        <a:ln w="57150">
          <a:solidFill>
            <a:schemeClr val="bg1">
              <a:lumMod val="50000"/>
            </a:schemeClr>
          </a:solidFill>
        </a:ln>
      </dgm:spPr>
      <dgm:t>
        <a:bodyPr/>
        <a:lstStyle/>
        <a:p>
          <a:endParaRPr lang="en-CA"/>
        </a:p>
      </dgm:t>
    </dgm:pt>
    <dgm:pt modelId="{D4D6EBCD-4959-4712-90E1-C30920D4CA79}">
      <dgm:prSet phldrT="[Text]" custT="1"/>
      <dgm:spPr>
        <a:ln w="19050">
          <a:solidFill>
            <a:srgbClr val="FFFFFF"/>
          </a:solidFill>
        </a:ln>
      </dgm:spPr>
      <dgm:t>
        <a:bodyPr/>
        <a:lstStyle/>
        <a:p>
          <a:r>
            <a:rPr lang="en-CA" sz="1600" b="1" dirty="0"/>
            <a:t>Testing</a:t>
          </a:r>
        </a:p>
      </dgm:t>
    </dgm:pt>
    <dgm:pt modelId="{E322F8A8-C5AF-47B7-AB3D-2AE7FE063FF2}" type="parTrans" cxnId="{B97E311D-15C1-486B-B461-ABDE26E7817A}">
      <dgm:prSet/>
      <dgm:spPr/>
      <dgm:t>
        <a:bodyPr/>
        <a:lstStyle/>
        <a:p>
          <a:endParaRPr lang="en-CA"/>
        </a:p>
      </dgm:t>
    </dgm:pt>
    <dgm:pt modelId="{A541F1A5-E686-46BB-8E51-0D453DAFD331}" type="sibTrans" cxnId="{B97E311D-15C1-486B-B461-ABDE26E7817A}">
      <dgm:prSet/>
      <dgm:spPr>
        <a:ln w="57150">
          <a:solidFill>
            <a:schemeClr val="bg1">
              <a:lumMod val="50000"/>
            </a:schemeClr>
          </a:solidFill>
        </a:ln>
      </dgm:spPr>
      <dgm:t>
        <a:bodyPr/>
        <a:lstStyle/>
        <a:p>
          <a:endParaRPr lang="en-CA"/>
        </a:p>
      </dgm:t>
    </dgm:pt>
    <dgm:pt modelId="{9AEA4B58-BB4B-426B-B7D9-11E81D84C7F0}">
      <dgm:prSet phldrT="[Text]" custT="1"/>
      <dgm:spPr>
        <a:solidFill>
          <a:schemeClr val="accent6"/>
        </a:solidFill>
        <a:ln w="19050">
          <a:solidFill>
            <a:srgbClr val="FFFFFF"/>
          </a:solidFill>
        </a:ln>
      </dgm:spPr>
      <dgm:t>
        <a:bodyPr/>
        <a:lstStyle/>
        <a:p>
          <a:r>
            <a:rPr lang="en-CA" sz="1600" b="1" dirty="0"/>
            <a:t>Evaluation</a:t>
          </a:r>
        </a:p>
      </dgm:t>
    </dgm:pt>
    <dgm:pt modelId="{6348AB8A-D96F-4669-B7B2-00D01F9BE0F6}" type="parTrans" cxnId="{F8813ECC-8B49-4574-A1DE-7A14E73667BF}">
      <dgm:prSet/>
      <dgm:spPr/>
      <dgm:t>
        <a:bodyPr/>
        <a:lstStyle/>
        <a:p>
          <a:endParaRPr lang="en-CA"/>
        </a:p>
      </dgm:t>
    </dgm:pt>
    <dgm:pt modelId="{CF1E446A-5F4F-4D90-9BA6-51322D8F024D}" type="sibTrans" cxnId="{F8813ECC-8B49-4574-A1DE-7A14E73667BF}">
      <dgm:prSet/>
      <dgm:spPr>
        <a:ln w="57150">
          <a:solidFill>
            <a:schemeClr val="bg1">
              <a:lumMod val="50000"/>
            </a:schemeClr>
          </a:solidFill>
        </a:ln>
      </dgm:spPr>
      <dgm:t>
        <a:bodyPr/>
        <a:lstStyle/>
        <a:p>
          <a:endParaRPr lang="en-CA"/>
        </a:p>
      </dgm:t>
    </dgm:pt>
    <dgm:pt modelId="{844D1063-F735-4D02-BB01-15EAC80F3500}" type="pres">
      <dgm:prSet presAssocID="{724F0017-8479-4163-9863-3E5CF0BE1DA6}" presName="cycle" presStyleCnt="0">
        <dgm:presLayoutVars>
          <dgm:dir/>
          <dgm:resizeHandles val="exact"/>
        </dgm:presLayoutVars>
      </dgm:prSet>
      <dgm:spPr/>
    </dgm:pt>
    <dgm:pt modelId="{D8116D78-58D4-4383-8544-DB15831F7CFB}" type="pres">
      <dgm:prSet presAssocID="{9D456414-6199-4920-9670-4409ED4530A0}" presName="node" presStyleLbl="node1" presStyleIdx="0" presStyleCnt="5">
        <dgm:presLayoutVars>
          <dgm:bulletEnabled val="1"/>
        </dgm:presLayoutVars>
      </dgm:prSet>
      <dgm:spPr/>
    </dgm:pt>
    <dgm:pt modelId="{E9EA4B38-1EC6-488B-B98D-93DCC2D8E903}" type="pres">
      <dgm:prSet presAssocID="{9D456414-6199-4920-9670-4409ED4530A0}" presName="spNode" presStyleCnt="0"/>
      <dgm:spPr/>
    </dgm:pt>
    <dgm:pt modelId="{D23402D6-40D3-4020-A9AA-5F01E99A0D22}" type="pres">
      <dgm:prSet presAssocID="{2277B785-4402-445D-818C-5DDE03E7B2B3}" presName="sibTrans" presStyleLbl="sibTrans1D1" presStyleIdx="0" presStyleCnt="5"/>
      <dgm:spPr/>
    </dgm:pt>
    <dgm:pt modelId="{117BC1EA-B9AD-4705-895B-6B9CBA9227D7}" type="pres">
      <dgm:prSet presAssocID="{556B3D5B-0645-4494-992B-442408785026}" presName="node" presStyleLbl="node1" presStyleIdx="1" presStyleCnt="5" custRadScaleRad="102044" custRadScaleInc="-13538">
        <dgm:presLayoutVars>
          <dgm:bulletEnabled val="1"/>
        </dgm:presLayoutVars>
      </dgm:prSet>
      <dgm:spPr/>
    </dgm:pt>
    <dgm:pt modelId="{E9FD814A-2B7B-4673-8975-CDE4673D95FF}" type="pres">
      <dgm:prSet presAssocID="{556B3D5B-0645-4494-992B-442408785026}" presName="spNode" presStyleCnt="0"/>
      <dgm:spPr/>
    </dgm:pt>
    <dgm:pt modelId="{D4891570-5E70-4C23-9103-D2CEF01165E0}" type="pres">
      <dgm:prSet presAssocID="{B70AA2FE-7464-4A56-A30F-5FF5C7533DE0}" presName="sibTrans" presStyleLbl="sibTrans1D1" presStyleIdx="1" presStyleCnt="5"/>
      <dgm:spPr/>
    </dgm:pt>
    <dgm:pt modelId="{200DCEE8-75BF-4030-B2C8-2C355CCCD584}" type="pres">
      <dgm:prSet presAssocID="{10140FF2-E530-4BF7-98E9-06EC5B23994C}" presName="node" presStyleLbl="node1" presStyleIdx="2" presStyleCnt="5" custScaleX="125879" custRadScaleRad="92810" custRadScaleInc="-43586">
        <dgm:presLayoutVars>
          <dgm:bulletEnabled val="1"/>
        </dgm:presLayoutVars>
      </dgm:prSet>
      <dgm:spPr/>
    </dgm:pt>
    <dgm:pt modelId="{DBCC9E66-EA6A-47CB-B8B0-81A2D339F85D}" type="pres">
      <dgm:prSet presAssocID="{10140FF2-E530-4BF7-98E9-06EC5B23994C}" presName="spNode" presStyleCnt="0"/>
      <dgm:spPr/>
    </dgm:pt>
    <dgm:pt modelId="{220DEBEE-112D-47C2-B407-82FBB0E2BA26}" type="pres">
      <dgm:prSet presAssocID="{5ED8E126-D2C5-4367-A58B-6945B50F66D9}" presName="sibTrans" presStyleLbl="sibTrans1D1" presStyleIdx="2" presStyleCnt="5"/>
      <dgm:spPr/>
    </dgm:pt>
    <dgm:pt modelId="{25DF4037-04C9-400A-9FC9-CDA4538C2192}" type="pres">
      <dgm:prSet presAssocID="{D4D6EBCD-4959-4712-90E1-C30920D4CA79}" presName="node" presStyleLbl="node1" presStyleIdx="3" presStyleCnt="5" custRadScaleRad="86846" custRadScaleInc="27480">
        <dgm:presLayoutVars>
          <dgm:bulletEnabled val="1"/>
        </dgm:presLayoutVars>
      </dgm:prSet>
      <dgm:spPr/>
    </dgm:pt>
    <dgm:pt modelId="{D575ACA8-DD13-45AD-A147-C41A20D06952}" type="pres">
      <dgm:prSet presAssocID="{D4D6EBCD-4959-4712-90E1-C30920D4CA79}" presName="spNode" presStyleCnt="0"/>
      <dgm:spPr/>
    </dgm:pt>
    <dgm:pt modelId="{1C36CBB1-67FB-4C2C-A864-D6642E6084F9}" type="pres">
      <dgm:prSet presAssocID="{A541F1A5-E686-46BB-8E51-0D453DAFD331}" presName="sibTrans" presStyleLbl="sibTrans1D1" presStyleIdx="3" presStyleCnt="5"/>
      <dgm:spPr/>
    </dgm:pt>
    <dgm:pt modelId="{D8DEA513-0BE6-49D6-BAE1-CAE210C1444C}" type="pres">
      <dgm:prSet presAssocID="{9AEA4B58-BB4B-426B-B7D9-11E81D84C7F0}" presName="node" presStyleLbl="node1" presStyleIdx="4" presStyleCnt="5" custRadScaleRad="102044" custRadScaleInc="13538">
        <dgm:presLayoutVars>
          <dgm:bulletEnabled val="1"/>
        </dgm:presLayoutVars>
      </dgm:prSet>
      <dgm:spPr/>
    </dgm:pt>
    <dgm:pt modelId="{884A7DC3-0499-419C-93DA-3FBC8AAD39B5}" type="pres">
      <dgm:prSet presAssocID="{9AEA4B58-BB4B-426B-B7D9-11E81D84C7F0}" presName="spNode" presStyleCnt="0"/>
      <dgm:spPr/>
    </dgm:pt>
    <dgm:pt modelId="{F76BCFFA-402E-4C7E-B722-D8CB6C7B1846}" type="pres">
      <dgm:prSet presAssocID="{CF1E446A-5F4F-4D90-9BA6-51322D8F024D}" presName="sibTrans" presStyleLbl="sibTrans1D1" presStyleIdx="4" presStyleCnt="5"/>
      <dgm:spPr/>
    </dgm:pt>
  </dgm:ptLst>
  <dgm:cxnLst>
    <dgm:cxn modelId="{B97E311D-15C1-486B-B461-ABDE26E7817A}" srcId="{724F0017-8479-4163-9863-3E5CF0BE1DA6}" destId="{D4D6EBCD-4959-4712-90E1-C30920D4CA79}" srcOrd="3" destOrd="0" parTransId="{E322F8A8-C5AF-47B7-AB3D-2AE7FE063FF2}" sibTransId="{A541F1A5-E686-46BB-8E51-0D453DAFD331}"/>
    <dgm:cxn modelId="{9B9DC326-31BC-4782-9677-24D87ECA8360}" type="presOf" srcId="{9AEA4B58-BB4B-426B-B7D9-11E81D84C7F0}" destId="{D8DEA513-0BE6-49D6-BAE1-CAE210C1444C}" srcOrd="0" destOrd="0" presId="urn:microsoft.com/office/officeart/2005/8/layout/cycle5"/>
    <dgm:cxn modelId="{05FD443C-4DDF-4BDB-96C6-9AA0A591FE3E}" type="presOf" srcId="{D4D6EBCD-4959-4712-90E1-C30920D4CA79}" destId="{25DF4037-04C9-400A-9FC9-CDA4538C2192}" srcOrd="0" destOrd="0" presId="urn:microsoft.com/office/officeart/2005/8/layout/cycle5"/>
    <dgm:cxn modelId="{82F81A5E-189C-42B7-877D-7B97C1B41352}" srcId="{724F0017-8479-4163-9863-3E5CF0BE1DA6}" destId="{556B3D5B-0645-4494-992B-442408785026}" srcOrd="1" destOrd="0" parTransId="{98791469-6380-497F-83B2-AE18A91A31D5}" sibTransId="{B70AA2FE-7464-4A56-A30F-5FF5C7533DE0}"/>
    <dgm:cxn modelId="{83DF4753-5CD9-4603-82EA-1B9F5B0AEC95}" srcId="{724F0017-8479-4163-9863-3E5CF0BE1DA6}" destId="{9D456414-6199-4920-9670-4409ED4530A0}" srcOrd="0" destOrd="0" parTransId="{626F8E55-C090-43EA-BD31-ECDC8A5065A0}" sibTransId="{2277B785-4402-445D-818C-5DDE03E7B2B3}"/>
    <dgm:cxn modelId="{50BB5859-5EC1-4B20-A1DB-AA7C61772CED}" type="presOf" srcId="{724F0017-8479-4163-9863-3E5CF0BE1DA6}" destId="{844D1063-F735-4D02-BB01-15EAC80F3500}" srcOrd="0" destOrd="0" presId="urn:microsoft.com/office/officeart/2005/8/layout/cycle5"/>
    <dgm:cxn modelId="{5219067C-7D6F-4D72-9734-515B2B1F497E}" type="presOf" srcId="{A541F1A5-E686-46BB-8E51-0D453DAFD331}" destId="{1C36CBB1-67FB-4C2C-A864-D6642E6084F9}" srcOrd="0" destOrd="0" presId="urn:microsoft.com/office/officeart/2005/8/layout/cycle5"/>
    <dgm:cxn modelId="{053D3585-2F13-40A1-A44A-4B781A00FAC7}" type="presOf" srcId="{10140FF2-E530-4BF7-98E9-06EC5B23994C}" destId="{200DCEE8-75BF-4030-B2C8-2C355CCCD584}" srcOrd="0" destOrd="0" presId="urn:microsoft.com/office/officeart/2005/8/layout/cycle5"/>
    <dgm:cxn modelId="{0D0F788C-5FDA-4EBB-946D-060ACABA292B}" type="presOf" srcId="{2277B785-4402-445D-818C-5DDE03E7B2B3}" destId="{D23402D6-40D3-4020-A9AA-5F01E99A0D22}" srcOrd="0" destOrd="0" presId="urn:microsoft.com/office/officeart/2005/8/layout/cycle5"/>
    <dgm:cxn modelId="{EA20D599-4734-4C3D-860D-250F1EFA796F}" type="presOf" srcId="{5ED8E126-D2C5-4367-A58B-6945B50F66D9}" destId="{220DEBEE-112D-47C2-B407-82FBB0E2BA26}" srcOrd="0" destOrd="0" presId="urn:microsoft.com/office/officeart/2005/8/layout/cycle5"/>
    <dgm:cxn modelId="{520FCAA8-86CF-4383-AC35-981DE4FD3413}" type="presOf" srcId="{9D456414-6199-4920-9670-4409ED4530A0}" destId="{D8116D78-58D4-4383-8544-DB15831F7CFB}" srcOrd="0" destOrd="0" presId="urn:microsoft.com/office/officeart/2005/8/layout/cycle5"/>
    <dgm:cxn modelId="{F8813ECC-8B49-4574-A1DE-7A14E73667BF}" srcId="{724F0017-8479-4163-9863-3E5CF0BE1DA6}" destId="{9AEA4B58-BB4B-426B-B7D9-11E81D84C7F0}" srcOrd="4" destOrd="0" parTransId="{6348AB8A-D96F-4669-B7B2-00D01F9BE0F6}" sibTransId="{CF1E446A-5F4F-4D90-9BA6-51322D8F024D}"/>
    <dgm:cxn modelId="{6D3BBAD4-E18C-4E56-AA4F-59051D9CB518}" type="presOf" srcId="{B70AA2FE-7464-4A56-A30F-5FF5C7533DE0}" destId="{D4891570-5E70-4C23-9103-D2CEF01165E0}" srcOrd="0" destOrd="0" presId="urn:microsoft.com/office/officeart/2005/8/layout/cycle5"/>
    <dgm:cxn modelId="{2B732DE2-949E-420A-912F-1621B489D304}" type="presOf" srcId="{556B3D5B-0645-4494-992B-442408785026}" destId="{117BC1EA-B9AD-4705-895B-6B9CBA9227D7}" srcOrd="0" destOrd="0" presId="urn:microsoft.com/office/officeart/2005/8/layout/cycle5"/>
    <dgm:cxn modelId="{163237E3-23F6-4F2C-AFCD-E557BA248CA6}" type="presOf" srcId="{CF1E446A-5F4F-4D90-9BA6-51322D8F024D}" destId="{F76BCFFA-402E-4C7E-B722-D8CB6C7B1846}" srcOrd="0" destOrd="0" presId="urn:microsoft.com/office/officeart/2005/8/layout/cycle5"/>
    <dgm:cxn modelId="{DB0722F7-6654-4FA2-A18A-E8271537579C}" srcId="{724F0017-8479-4163-9863-3E5CF0BE1DA6}" destId="{10140FF2-E530-4BF7-98E9-06EC5B23994C}" srcOrd="2" destOrd="0" parTransId="{A5634268-DE9E-4B7B-BB4B-2B23FF293AEA}" sibTransId="{5ED8E126-D2C5-4367-A58B-6945B50F66D9}"/>
    <dgm:cxn modelId="{621AC015-0B2E-4883-AA09-F55D600C5EA9}" type="presParOf" srcId="{844D1063-F735-4D02-BB01-15EAC80F3500}" destId="{D8116D78-58D4-4383-8544-DB15831F7CFB}" srcOrd="0" destOrd="0" presId="urn:microsoft.com/office/officeart/2005/8/layout/cycle5"/>
    <dgm:cxn modelId="{6629C189-E77D-4B3E-A97E-A2739F82BEB2}" type="presParOf" srcId="{844D1063-F735-4D02-BB01-15EAC80F3500}" destId="{E9EA4B38-1EC6-488B-B98D-93DCC2D8E903}" srcOrd="1" destOrd="0" presId="urn:microsoft.com/office/officeart/2005/8/layout/cycle5"/>
    <dgm:cxn modelId="{490B0D96-F8B1-4DE8-966A-D3EA16A574C4}" type="presParOf" srcId="{844D1063-F735-4D02-BB01-15EAC80F3500}" destId="{D23402D6-40D3-4020-A9AA-5F01E99A0D22}" srcOrd="2" destOrd="0" presId="urn:microsoft.com/office/officeart/2005/8/layout/cycle5"/>
    <dgm:cxn modelId="{0F205C87-6396-468C-9C10-789E7E8C32E0}" type="presParOf" srcId="{844D1063-F735-4D02-BB01-15EAC80F3500}" destId="{117BC1EA-B9AD-4705-895B-6B9CBA9227D7}" srcOrd="3" destOrd="0" presId="urn:microsoft.com/office/officeart/2005/8/layout/cycle5"/>
    <dgm:cxn modelId="{D9955229-203C-47B0-B401-3C006D6C1651}" type="presParOf" srcId="{844D1063-F735-4D02-BB01-15EAC80F3500}" destId="{E9FD814A-2B7B-4673-8975-CDE4673D95FF}" srcOrd="4" destOrd="0" presId="urn:microsoft.com/office/officeart/2005/8/layout/cycle5"/>
    <dgm:cxn modelId="{3EC8D5E3-AD94-42FF-89FE-1A50F70987FD}" type="presParOf" srcId="{844D1063-F735-4D02-BB01-15EAC80F3500}" destId="{D4891570-5E70-4C23-9103-D2CEF01165E0}" srcOrd="5" destOrd="0" presId="urn:microsoft.com/office/officeart/2005/8/layout/cycle5"/>
    <dgm:cxn modelId="{CC44C5CB-3E61-4908-B83C-86B2D099BF5A}" type="presParOf" srcId="{844D1063-F735-4D02-BB01-15EAC80F3500}" destId="{200DCEE8-75BF-4030-B2C8-2C355CCCD584}" srcOrd="6" destOrd="0" presId="urn:microsoft.com/office/officeart/2005/8/layout/cycle5"/>
    <dgm:cxn modelId="{04FB4020-3F41-4991-A651-99BB3E15DEC4}" type="presParOf" srcId="{844D1063-F735-4D02-BB01-15EAC80F3500}" destId="{DBCC9E66-EA6A-47CB-B8B0-81A2D339F85D}" srcOrd="7" destOrd="0" presId="urn:microsoft.com/office/officeart/2005/8/layout/cycle5"/>
    <dgm:cxn modelId="{56A2337C-7D51-435F-81DC-269D47735AA9}" type="presParOf" srcId="{844D1063-F735-4D02-BB01-15EAC80F3500}" destId="{220DEBEE-112D-47C2-B407-82FBB0E2BA26}" srcOrd="8" destOrd="0" presId="urn:microsoft.com/office/officeart/2005/8/layout/cycle5"/>
    <dgm:cxn modelId="{D0D27C86-788A-4D9F-8390-B10F8C3C0649}" type="presParOf" srcId="{844D1063-F735-4D02-BB01-15EAC80F3500}" destId="{25DF4037-04C9-400A-9FC9-CDA4538C2192}" srcOrd="9" destOrd="0" presId="urn:microsoft.com/office/officeart/2005/8/layout/cycle5"/>
    <dgm:cxn modelId="{1412C216-4F07-4C64-A6E7-368168EEF57B}" type="presParOf" srcId="{844D1063-F735-4D02-BB01-15EAC80F3500}" destId="{D575ACA8-DD13-45AD-A147-C41A20D06952}" srcOrd="10" destOrd="0" presId="urn:microsoft.com/office/officeart/2005/8/layout/cycle5"/>
    <dgm:cxn modelId="{679E668D-F7D9-4564-921F-B5244A6D184C}" type="presParOf" srcId="{844D1063-F735-4D02-BB01-15EAC80F3500}" destId="{1C36CBB1-67FB-4C2C-A864-D6642E6084F9}" srcOrd="11" destOrd="0" presId="urn:microsoft.com/office/officeart/2005/8/layout/cycle5"/>
    <dgm:cxn modelId="{C2886124-EF3F-4E31-91BF-82A62405D86A}" type="presParOf" srcId="{844D1063-F735-4D02-BB01-15EAC80F3500}" destId="{D8DEA513-0BE6-49D6-BAE1-CAE210C1444C}" srcOrd="12" destOrd="0" presId="urn:microsoft.com/office/officeart/2005/8/layout/cycle5"/>
    <dgm:cxn modelId="{C7966D6A-C01C-4EDC-9A89-C6328D6061E4}" type="presParOf" srcId="{844D1063-F735-4D02-BB01-15EAC80F3500}" destId="{884A7DC3-0499-419C-93DA-3FBC8AAD39B5}" srcOrd="13" destOrd="0" presId="urn:microsoft.com/office/officeart/2005/8/layout/cycle5"/>
    <dgm:cxn modelId="{A66AF93F-7C96-4AB1-8EEC-0512398F646E}" type="presParOf" srcId="{844D1063-F735-4D02-BB01-15EAC80F3500}" destId="{F76BCFFA-402E-4C7E-B722-D8CB6C7B1846}" srcOrd="14" destOrd="0" presId="urn:microsoft.com/office/officeart/2005/8/layout/cycle5"/>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116D78-58D4-4383-8544-DB15831F7CFB}">
      <dsp:nvSpPr>
        <dsp:cNvPr id="0" name=""/>
        <dsp:cNvSpPr/>
      </dsp:nvSpPr>
      <dsp:spPr>
        <a:xfrm>
          <a:off x="3160040" y="995"/>
          <a:ext cx="1393581" cy="905827"/>
        </a:xfrm>
        <a:prstGeom prst="roundRect">
          <a:avLst/>
        </a:prstGeom>
        <a:solidFill>
          <a:schemeClr val="accent2">
            <a:hueOff val="0"/>
            <a:satOff val="0"/>
            <a:lumOff val="0"/>
            <a:alphaOff val="0"/>
          </a:schemeClr>
        </a:solidFill>
        <a:ln w="1905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t>Analysis</a:t>
          </a:r>
        </a:p>
      </dsp:txBody>
      <dsp:txXfrm>
        <a:off x="3204259" y="45214"/>
        <a:ext cx="1305143" cy="817389"/>
      </dsp:txXfrm>
    </dsp:sp>
    <dsp:sp modelId="{D23402D6-40D3-4020-A9AA-5F01E99A0D22}">
      <dsp:nvSpPr>
        <dsp:cNvPr id="0" name=""/>
        <dsp:cNvSpPr/>
      </dsp:nvSpPr>
      <dsp:spPr>
        <a:xfrm>
          <a:off x="2113232" y="480865"/>
          <a:ext cx="3624427" cy="3624427"/>
        </a:xfrm>
        <a:custGeom>
          <a:avLst/>
          <a:gdLst/>
          <a:ahLst/>
          <a:cxnLst/>
          <a:rect l="0" t="0" r="0" b="0"/>
          <a:pathLst>
            <a:path>
              <a:moveTo>
                <a:pt x="2614479" y="187255"/>
              </a:moveTo>
              <a:arcTo wR="1812213" hR="1812213" stAng="17776573" swAng="1100200"/>
            </a:path>
          </a:pathLst>
        </a:custGeom>
        <a:noFill/>
        <a:ln w="57150" cap="flat" cmpd="sng" algn="ctr">
          <a:solidFill>
            <a:schemeClr val="bg1">
              <a:lumMod val="5000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117BC1EA-B9AD-4705-895B-6B9CBA9227D7}">
      <dsp:nvSpPr>
        <dsp:cNvPr id="0" name=""/>
        <dsp:cNvSpPr/>
      </dsp:nvSpPr>
      <dsp:spPr>
        <a:xfrm>
          <a:off x="4883571" y="1142995"/>
          <a:ext cx="1393581" cy="905827"/>
        </a:xfrm>
        <a:prstGeom prst="roundRect">
          <a:avLst/>
        </a:prstGeom>
        <a:solidFill>
          <a:schemeClr val="accent3">
            <a:hueOff val="0"/>
            <a:satOff val="0"/>
            <a:lumOff val="0"/>
            <a:alphaOff val="0"/>
          </a:schemeClr>
        </a:solidFill>
        <a:ln w="1905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t>Design</a:t>
          </a:r>
        </a:p>
      </dsp:txBody>
      <dsp:txXfrm>
        <a:off x="4927790" y="1187214"/>
        <a:ext cx="1305143" cy="817389"/>
      </dsp:txXfrm>
    </dsp:sp>
    <dsp:sp modelId="{D4891570-5E70-4C23-9103-D2CEF01165E0}">
      <dsp:nvSpPr>
        <dsp:cNvPr id="0" name=""/>
        <dsp:cNvSpPr/>
      </dsp:nvSpPr>
      <dsp:spPr>
        <a:xfrm>
          <a:off x="2071279" y="142749"/>
          <a:ext cx="3624427" cy="3624427"/>
        </a:xfrm>
        <a:custGeom>
          <a:avLst/>
          <a:gdLst/>
          <a:ahLst/>
          <a:cxnLst/>
          <a:rect l="0" t="0" r="0" b="0"/>
          <a:pathLst>
            <a:path>
              <a:moveTo>
                <a:pt x="3601493" y="2099610"/>
              </a:moveTo>
              <a:arcTo wR="1812213" hR="1812213" stAng="547499" swAng="1131062"/>
            </a:path>
          </a:pathLst>
        </a:custGeom>
        <a:noFill/>
        <a:ln w="57150" cap="flat" cmpd="sng" algn="ctr">
          <a:solidFill>
            <a:schemeClr val="bg1">
              <a:lumMod val="5000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200DCEE8-75BF-4030-B2C8-2C355CCCD584}">
      <dsp:nvSpPr>
        <dsp:cNvPr id="0" name=""/>
        <dsp:cNvSpPr/>
      </dsp:nvSpPr>
      <dsp:spPr>
        <a:xfrm>
          <a:off x="4198940" y="2971801"/>
          <a:ext cx="1754226" cy="905827"/>
        </a:xfrm>
        <a:prstGeom prst="roundRect">
          <a:avLst/>
        </a:prstGeom>
        <a:solidFill>
          <a:schemeClr val="accent4">
            <a:hueOff val="0"/>
            <a:satOff val="0"/>
            <a:lumOff val="0"/>
            <a:alphaOff val="0"/>
          </a:schemeClr>
        </a:solidFill>
        <a:ln w="1905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t>Implementation</a:t>
          </a:r>
        </a:p>
      </dsp:txBody>
      <dsp:txXfrm>
        <a:off x="4243159" y="3016020"/>
        <a:ext cx="1665788" cy="817389"/>
      </dsp:txXfrm>
    </dsp:sp>
    <dsp:sp modelId="{220DEBEE-112D-47C2-B407-82FBB0E2BA26}">
      <dsp:nvSpPr>
        <dsp:cNvPr id="0" name=""/>
        <dsp:cNvSpPr/>
      </dsp:nvSpPr>
      <dsp:spPr>
        <a:xfrm>
          <a:off x="2269084" y="271529"/>
          <a:ext cx="3624427" cy="3624427"/>
        </a:xfrm>
        <a:custGeom>
          <a:avLst/>
          <a:gdLst/>
          <a:ahLst/>
          <a:cxnLst/>
          <a:rect l="0" t="0" r="0" b="0"/>
          <a:pathLst>
            <a:path>
              <a:moveTo>
                <a:pt x="1899362" y="3622330"/>
              </a:moveTo>
              <a:arcTo wR="1812213" hR="1812213" stAng="5234617" swAng="987203"/>
            </a:path>
          </a:pathLst>
        </a:custGeom>
        <a:noFill/>
        <a:ln w="57150" cap="flat" cmpd="sng" algn="ctr">
          <a:solidFill>
            <a:schemeClr val="bg1">
              <a:lumMod val="5000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25DF4037-04C9-400A-9FC9-CDA4538C2192}">
      <dsp:nvSpPr>
        <dsp:cNvPr id="0" name=""/>
        <dsp:cNvSpPr/>
      </dsp:nvSpPr>
      <dsp:spPr>
        <a:xfrm>
          <a:off x="2094846" y="2971794"/>
          <a:ext cx="1393581" cy="905827"/>
        </a:xfrm>
        <a:prstGeom prst="roundRect">
          <a:avLst/>
        </a:prstGeom>
        <a:solidFill>
          <a:schemeClr val="accent5">
            <a:hueOff val="0"/>
            <a:satOff val="0"/>
            <a:lumOff val="0"/>
            <a:alphaOff val="0"/>
          </a:schemeClr>
        </a:solidFill>
        <a:ln w="1905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t>Testing</a:t>
          </a:r>
        </a:p>
      </dsp:txBody>
      <dsp:txXfrm>
        <a:off x="2139065" y="3016013"/>
        <a:ext cx="1305143" cy="817389"/>
      </dsp:txXfrm>
    </dsp:sp>
    <dsp:sp modelId="{1C36CBB1-67FB-4C2C-A864-D6642E6084F9}">
      <dsp:nvSpPr>
        <dsp:cNvPr id="0" name=""/>
        <dsp:cNvSpPr/>
      </dsp:nvSpPr>
      <dsp:spPr>
        <a:xfrm>
          <a:off x="1999773" y="-35949"/>
          <a:ext cx="3624427" cy="3624427"/>
        </a:xfrm>
        <a:custGeom>
          <a:avLst/>
          <a:gdLst/>
          <a:ahLst/>
          <a:cxnLst/>
          <a:rect l="0" t="0" r="0" b="0"/>
          <a:pathLst>
            <a:path>
              <a:moveTo>
                <a:pt x="324835" y="2847503"/>
              </a:moveTo>
              <a:arcTo wR="1812213" hR="1812213" stAng="8709608" swAng="1185122"/>
            </a:path>
          </a:pathLst>
        </a:custGeom>
        <a:noFill/>
        <a:ln w="57150" cap="flat" cmpd="sng" algn="ctr">
          <a:solidFill>
            <a:schemeClr val="bg1">
              <a:lumMod val="5000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D8DEA513-0BE6-49D6-BAE1-CAE210C1444C}">
      <dsp:nvSpPr>
        <dsp:cNvPr id="0" name=""/>
        <dsp:cNvSpPr/>
      </dsp:nvSpPr>
      <dsp:spPr>
        <a:xfrm>
          <a:off x="1436509" y="1142995"/>
          <a:ext cx="1393581" cy="905827"/>
        </a:xfrm>
        <a:prstGeom prst="roundRect">
          <a:avLst/>
        </a:prstGeom>
        <a:solidFill>
          <a:schemeClr val="accent6"/>
        </a:solidFill>
        <a:ln w="1905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t>Evaluation</a:t>
          </a:r>
        </a:p>
      </dsp:txBody>
      <dsp:txXfrm>
        <a:off x="1480728" y="1187214"/>
        <a:ext cx="1305143" cy="817389"/>
      </dsp:txXfrm>
    </dsp:sp>
    <dsp:sp modelId="{F76BCFFA-402E-4C7E-B722-D8CB6C7B1846}">
      <dsp:nvSpPr>
        <dsp:cNvPr id="0" name=""/>
        <dsp:cNvSpPr/>
      </dsp:nvSpPr>
      <dsp:spPr>
        <a:xfrm>
          <a:off x="1976001" y="480865"/>
          <a:ext cx="3624427" cy="3624427"/>
        </a:xfrm>
        <a:custGeom>
          <a:avLst/>
          <a:gdLst/>
          <a:ahLst/>
          <a:cxnLst/>
          <a:rect l="0" t="0" r="0" b="0"/>
          <a:pathLst>
            <a:path>
              <a:moveTo>
                <a:pt x="539471" y="522156"/>
              </a:moveTo>
              <a:arcTo wR="1812213" hR="1812213" stAng="13523226" swAng="1100200"/>
            </a:path>
          </a:pathLst>
        </a:custGeom>
        <a:noFill/>
        <a:ln w="57150" cap="flat" cmpd="sng" algn="ctr">
          <a:solidFill>
            <a:schemeClr val="bg1">
              <a:lumMod val="5000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533959-83D6-4F52-BB14-8B255A277EF8}" type="datetimeFigureOut">
              <a:rPr lang="en-CA" smtClean="0"/>
              <a:t>2021-08-13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05965F-FD6D-4DF9-A2D6-3588AF3640BF}" type="slidenum">
              <a:rPr lang="en-CA" smtClean="0"/>
              <a:t>‹#›</a:t>
            </a:fld>
            <a:endParaRPr lang="en-CA"/>
          </a:p>
        </p:txBody>
      </p:sp>
    </p:spTree>
    <p:extLst>
      <p:ext uri="{BB962C8B-B14F-4D97-AF65-F5344CB8AC3E}">
        <p14:creationId xmlns:p14="http://schemas.microsoft.com/office/powerpoint/2010/main" val="1996836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B86199B-723C-4ED4-A2CA-9DD865E4AA7D}" type="slidenum">
              <a:rPr lang="en-CA" smtClean="0"/>
              <a:t>29</a:t>
            </a:fld>
            <a:endParaRPr lang="en-CA"/>
          </a:p>
        </p:txBody>
      </p:sp>
    </p:spTree>
    <p:extLst>
      <p:ext uri="{BB962C8B-B14F-4D97-AF65-F5344CB8AC3E}">
        <p14:creationId xmlns:p14="http://schemas.microsoft.com/office/powerpoint/2010/main" val="4115950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Shape 234"/>
          <p:cNvSpPr>
            <a:spLocks noGrp="1" noRot="1" noChangeAspect="1"/>
          </p:cNvSpPr>
          <p:nvPr>
            <p:ph type="sldImg"/>
          </p:nvPr>
        </p:nvSpPr>
        <p:spPr>
          <a:prstGeom prst="rect">
            <a:avLst/>
          </a:prstGeom>
        </p:spPr>
        <p:txBody>
          <a:bodyPr/>
          <a:lstStyle/>
          <a:p>
            <a:endParaRPr/>
          </a:p>
        </p:txBody>
      </p:sp>
      <p:sp>
        <p:nvSpPr>
          <p:cNvPr id="235" name="Shape 235"/>
          <p:cNvSpPr>
            <a:spLocks noGrp="1"/>
          </p:cNvSpPr>
          <p:nvPr>
            <p:ph type="body" sz="quarter" idx="1"/>
          </p:nvPr>
        </p:nvSpPr>
        <p:spPr>
          <a:prstGeom prst="rect">
            <a:avLst/>
          </a:prstGeom>
        </p:spPr>
        <p:txBody>
          <a:bodyPr/>
          <a:lstStyle/>
          <a:p>
            <a:r>
              <a:rPr dirty="0"/>
              <a:t>in our example, it is impossible for an “Account” object to exist. ….Only “Savings Account”, “Tax Free Savings” objects can.</a:t>
            </a:r>
          </a:p>
          <a:p>
            <a:endParaRPr dirty="0"/>
          </a:p>
          <a:p>
            <a:r>
              <a:rPr dirty="0"/>
              <a:t>“Account” here is used to help classify objects with commonalities</a:t>
            </a:r>
          </a:p>
        </p:txBody>
      </p:sp>
    </p:spTree>
    <p:extLst>
      <p:ext uri="{BB962C8B-B14F-4D97-AF65-F5344CB8AC3E}">
        <p14:creationId xmlns:p14="http://schemas.microsoft.com/office/powerpoint/2010/main" val="3606042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4B604-2835-44D5-A4DF-FD710FEE77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830F6EA-A9D6-46B4-88EF-1857B0A95B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A8CD74DB-A5D2-400B-8FC6-4E19B6318C65}"/>
              </a:ext>
            </a:extLst>
          </p:cNvPr>
          <p:cNvSpPr>
            <a:spLocks noGrp="1"/>
          </p:cNvSpPr>
          <p:nvPr>
            <p:ph type="dt" sz="half" idx="10"/>
          </p:nvPr>
        </p:nvSpPr>
        <p:spPr/>
        <p:txBody>
          <a:bodyPr/>
          <a:lstStyle/>
          <a:p>
            <a:fld id="{7F56F22D-D611-4C63-94BE-9BD0E1336122}" type="datetimeFigureOut">
              <a:rPr lang="en-CA" smtClean="0"/>
              <a:t>2021-08-13</a:t>
            </a:fld>
            <a:endParaRPr lang="en-CA"/>
          </a:p>
        </p:txBody>
      </p:sp>
      <p:sp>
        <p:nvSpPr>
          <p:cNvPr id="5" name="Footer Placeholder 4">
            <a:extLst>
              <a:ext uri="{FF2B5EF4-FFF2-40B4-BE49-F238E27FC236}">
                <a16:creationId xmlns:a16="http://schemas.microsoft.com/office/drawing/2014/main" id="{C3A83D5F-98A8-4046-89E9-5B6C10AB32A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E349EAC-9572-4D88-9660-FF931991EB9B}"/>
              </a:ext>
            </a:extLst>
          </p:cNvPr>
          <p:cNvSpPr>
            <a:spLocks noGrp="1"/>
          </p:cNvSpPr>
          <p:nvPr>
            <p:ph type="sldNum" sz="quarter" idx="12"/>
          </p:nvPr>
        </p:nvSpPr>
        <p:spPr/>
        <p:txBody>
          <a:bodyPr/>
          <a:lstStyle/>
          <a:p>
            <a:fld id="{17A57747-681C-44CE-B23F-C4C3821447EA}" type="slidenum">
              <a:rPr lang="en-CA" smtClean="0"/>
              <a:t>‹#›</a:t>
            </a:fld>
            <a:endParaRPr lang="en-CA"/>
          </a:p>
        </p:txBody>
      </p:sp>
    </p:spTree>
    <p:extLst>
      <p:ext uri="{BB962C8B-B14F-4D97-AF65-F5344CB8AC3E}">
        <p14:creationId xmlns:p14="http://schemas.microsoft.com/office/powerpoint/2010/main" val="303703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CE049-A909-43C7-9D76-E4E2BE0D4B5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66ACC7D-9537-4197-8D8D-C6F3BD7D568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6A0255D-25D0-47DE-B68A-B2A60B78CDD2}"/>
              </a:ext>
            </a:extLst>
          </p:cNvPr>
          <p:cNvSpPr>
            <a:spLocks noGrp="1"/>
          </p:cNvSpPr>
          <p:nvPr>
            <p:ph type="dt" sz="half" idx="10"/>
          </p:nvPr>
        </p:nvSpPr>
        <p:spPr/>
        <p:txBody>
          <a:bodyPr/>
          <a:lstStyle/>
          <a:p>
            <a:fld id="{7F56F22D-D611-4C63-94BE-9BD0E1336122}" type="datetimeFigureOut">
              <a:rPr lang="en-CA" smtClean="0"/>
              <a:t>2021-08-13</a:t>
            </a:fld>
            <a:endParaRPr lang="en-CA"/>
          </a:p>
        </p:txBody>
      </p:sp>
      <p:sp>
        <p:nvSpPr>
          <p:cNvPr id="5" name="Footer Placeholder 4">
            <a:extLst>
              <a:ext uri="{FF2B5EF4-FFF2-40B4-BE49-F238E27FC236}">
                <a16:creationId xmlns:a16="http://schemas.microsoft.com/office/drawing/2014/main" id="{AEDF144B-3D7B-44A7-A140-C94F954BED3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A421252-6230-4412-AE39-41648B8388FB}"/>
              </a:ext>
            </a:extLst>
          </p:cNvPr>
          <p:cNvSpPr>
            <a:spLocks noGrp="1"/>
          </p:cNvSpPr>
          <p:nvPr>
            <p:ph type="sldNum" sz="quarter" idx="12"/>
          </p:nvPr>
        </p:nvSpPr>
        <p:spPr/>
        <p:txBody>
          <a:bodyPr/>
          <a:lstStyle/>
          <a:p>
            <a:fld id="{17A57747-681C-44CE-B23F-C4C3821447EA}" type="slidenum">
              <a:rPr lang="en-CA" smtClean="0"/>
              <a:t>‹#›</a:t>
            </a:fld>
            <a:endParaRPr lang="en-CA"/>
          </a:p>
        </p:txBody>
      </p:sp>
    </p:spTree>
    <p:extLst>
      <p:ext uri="{BB962C8B-B14F-4D97-AF65-F5344CB8AC3E}">
        <p14:creationId xmlns:p14="http://schemas.microsoft.com/office/powerpoint/2010/main" val="3521183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E5132-301D-4D7E-9170-5F4CB1403A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75273D8-54BA-4A9B-8572-7CC3BF50CB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10075BA-2CF9-48CA-BDB1-0AEA19CF1251}"/>
              </a:ext>
            </a:extLst>
          </p:cNvPr>
          <p:cNvSpPr>
            <a:spLocks noGrp="1"/>
          </p:cNvSpPr>
          <p:nvPr>
            <p:ph type="dt" sz="half" idx="10"/>
          </p:nvPr>
        </p:nvSpPr>
        <p:spPr/>
        <p:txBody>
          <a:bodyPr/>
          <a:lstStyle/>
          <a:p>
            <a:fld id="{7F56F22D-D611-4C63-94BE-9BD0E1336122}" type="datetimeFigureOut">
              <a:rPr lang="en-CA" smtClean="0"/>
              <a:t>2021-08-13</a:t>
            </a:fld>
            <a:endParaRPr lang="en-CA"/>
          </a:p>
        </p:txBody>
      </p:sp>
      <p:sp>
        <p:nvSpPr>
          <p:cNvPr id="5" name="Footer Placeholder 4">
            <a:extLst>
              <a:ext uri="{FF2B5EF4-FFF2-40B4-BE49-F238E27FC236}">
                <a16:creationId xmlns:a16="http://schemas.microsoft.com/office/drawing/2014/main" id="{2E1D3231-15B7-48AE-8A5D-0FDBF4256D8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E432768-3421-4099-820A-BC31F1AF3E2D}"/>
              </a:ext>
            </a:extLst>
          </p:cNvPr>
          <p:cNvSpPr>
            <a:spLocks noGrp="1"/>
          </p:cNvSpPr>
          <p:nvPr>
            <p:ph type="sldNum" sz="quarter" idx="12"/>
          </p:nvPr>
        </p:nvSpPr>
        <p:spPr/>
        <p:txBody>
          <a:bodyPr/>
          <a:lstStyle/>
          <a:p>
            <a:fld id="{17A57747-681C-44CE-B23F-C4C3821447EA}" type="slidenum">
              <a:rPr lang="en-CA" smtClean="0"/>
              <a:t>‹#›</a:t>
            </a:fld>
            <a:endParaRPr lang="en-CA"/>
          </a:p>
        </p:txBody>
      </p:sp>
    </p:spTree>
    <p:extLst>
      <p:ext uri="{BB962C8B-B14F-4D97-AF65-F5344CB8AC3E}">
        <p14:creationId xmlns:p14="http://schemas.microsoft.com/office/powerpoint/2010/main" val="3942341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1FE3-3C05-4EEA-9E1C-4026FC11691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87C4298-48FA-4726-89D4-E4A1D47A507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F4FA972-F599-45F7-AD3D-F1A0889E1D0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69DF05F5-388C-44FD-BDBB-563C4B4D4864}"/>
              </a:ext>
            </a:extLst>
          </p:cNvPr>
          <p:cNvSpPr>
            <a:spLocks noGrp="1"/>
          </p:cNvSpPr>
          <p:nvPr>
            <p:ph type="dt" sz="half" idx="10"/>
          </p:nvPr>
        </p:nvSpPr>
        <p:spPr/>
        <p:txBody>
          <a:bodyPr/>
          <a:lstStyle/>
          <a:p>
            <a:fld id="{7F56F22D-D611-4C63-94BE-9BD0E1336122}" type="datetimeFigureOut">
              <a:rPr lang="en-CA" smtClean="0"/>
              <a:t>2021-08-13</a:t>
            </a:fld>
            <a:endParaRPr lang="en-CA"/>
          </a:p>
        </p:txBody>
      </p:sp>
      <p:sp>
        <p:nvSpPr>
          <p:cNvPr id="6" name="Footer Placeholder 5">
            <a:extLst>
              <a:ext uri="{FF2B5EF4-FFF2-40B4-BE49-F238E27FC236}">
                <a16:creationId xmlns:a16="http://schemas.microsoft.com/office/drawing/2014/main" id="{9F8AC14C-0F04-42ED-980D-0AE00FDE5B8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2E6DC15-0738-40D0-9CDD-D1538AB45378}"/>
              </a:ext>
            </a:extLst>
          </p:cNvPr>
          <p:cNvSpPr>
            <a:spLocks noGrp="1"/>
          </p:cNvSpPr>
          <p:nvPr>
            <p:ph type="sldNum" sz="quarter" idx="12"/>
          </p:nvPr>
        </p:nvSpPr>
        <p:spPr/>
        <p:txBody>
          <a:bodyPr/>
          <a:lstStyle/>
          <a:p>
            <a:fld id="{17A57747-681C-44CE-B23F-C4C3821447EA}" type="slidenum">
              <a:rPr lang="en-CA" smtClean="0"/>
              <a:t>‹#›</a:t>
            </a:fld>
            <a:endParaRPr lang="en-CA"/>
          </a:p>
        </p:txBody>
      </p:sp>
    </p:spTree>
    <p:extLst>
      <p:ext uri="{BB962C8B-B14F-4D97-AF65-F5344CB8AC3E}">
        <p14:creationId xmlns:p14="http://schemas.microsoft.com/office/powerpoint/2010/main" val="1211861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35BF0-B860-4BFE-A0FA-4BFE8DDF0F5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836E5C5-7F66-42DF-B3B1-5079B1F77C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B7526F6-1275-405A-8700-AE660FEF6C3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047C123E-E7B2-4F39-97F4-B39197F5CF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E95CAC2-1E9E-4812-800D-B9BF1464B56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2A892D03-4DCA-40D9-A49A-A2402F4706BE}"/>
              </a:ext>
            </a:extLst>
          </p:cNvPr>
          <p:cNvSpPr>
            <a:spLocks noGrp="1"/>
          </p:cNvSpPr>
          <p:nvPr>
            <p:ph type="dt" sz="half" idx="10"/>
          </p:nvPr>
        </p:nvSpPr>
        <p:spPr/>
        <p:txBody>
          <a:bodyPr/>
          <a:lstStyle/>
          <a:p>
            <a:fld id="{7F56F22D-D611-4C63-94BE-9BD0E1336122}" type="datetimeFigureOut">
              <a:rPr lang="en-CA" smtClean="0"/>
              <a:t>2021-08-13</a:t>
            </a:fld>
            <a:endParaRPr lang="en-CA"/>
          </a:p>
        </p:txBody>
      </p:sp>
      <p:sp>
        <p:nvSpPr>
          <p:cNvPr id="8" name="Footer Placeholder 7">
            <a:extLst>
              <a:ext uri="{FF2B5EF4-FFF2-40B4-BE49-F238E27FC236}">
                <a16:creationId xmlns:a16="http://schemas.microsoft.com/office/drawing/2014/main" id="{1463A80D-E869-43EB-B8BD-0CE0A813AFD2}"/>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BDC72AE8-5FDD-429E-91C7-B176B49D4E4C}"/>
              </a:ext>
            </a:extLst>
          </p:cNvPr>
          <p:cNvSpPr>
            <a:spLocks noGrp="1"/>
          </p:cNvSpPr>
          <p:nvPr>
            <p:ph type="sldNum" sz="quarter" idx="12"/>
          </p:nvPr>
        </p:nvSpPr>
        <p:spPr/>
        <p:txBody>
          <a:bodyPr/>
          <a:lstStyle/>
          <a:p>
            <a:fld id="{17A57747-681C-44CE-B23F-C4C3821447EA}" type="slidenum">
              <a:rPr lang="en-CA" smtClean="0"/>
              <a:t>‹#›</a:t>
            </a:fld>
            <a:endParaRPr lang="en-CA"/>
          </a:p>
        </p:txBody>
      </p:sp>
    </p:spTree>
    <p:extLst>
      <p:ext uri="{BB962C8B-B14F-4D97-AF65-F5344CB8AC3E}">
        <p14:creationId xmlns:p14="http://schemas.microsoft.com/office/powerpoint/2010/main" val="1552332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4D92B-AF5D-45AB-942F-D3CA35988CA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E5A98E7-3E3F-41E5-BC90-C65BAEADFD61}"/>
              </a:ext>
            </a:extLst>
          </p:cNvPr>
          <p:cNvSpPr>
            <a:spLocks noGrp="1"/>
          </p:cNvSpPr>
          <p:nvPr>
            <p:ph type="dt" sz="half" idx="10"/>
          </p:nvPr>
        </p:nvSpPr>
        <p:spPr/>
        <p:txBody>
          <a:bodyPr/>
          <a:lstStyle/>
          <a:p>
            <a:fld id="{7F56F22D-D611-4C63-94BE-9BD0E1336122}" type="datetimeFigureOut">
              <a:rPr lang="en-CA" smtClean="0"/>
              <a:t>2021-08-13</a:t>
            </a:fld>
            <a:endParaRPr lang="en-CA"/>
          </a:p>
        </p:txBody>
      </p:sp>
      <p:sp>
        <p:nvSpPr>
          <p:cNvPr id="4" name="Footer Placeholder 3">
            <a:extLst>
              <a:ext uri="{FF2B5EF4-FFF2-40B4-BE49-F238E27FC236}">
                <a16:creationId xmlns:a16="http://schemas.microsoft.com/office/drawing/2014/main" id="{9958A699-A072-4A54-AECC-6540FF6CC25D}"/>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9B7AFCE-143B-494A-A316-75F5D33B41EE}"/>
              </a:ext>
            </a:extLst>
          </p:cNvPr>
          <p:cNvSpPr>
            <a:spLocks noGrp="1"/>
          </p:cNvSpPr>
          <p:nvPr>
            <p:ph type="sldNum" sz="quarter" idx="12"/>
          </p:nvPr>
        </p:nvSpPr>
        <p:spPr/>
        <p:txBody>
          <a:bodyPr/>
          <a:lstStyle/>
          <a:p>
            <a:fld id="{17A57747-681C-44CE-B23F-C4C3821447EA}" type="slidenum">
              <a:rPr lang="en-CA" smtClean="0"/>
              <a:t>‹#›</a:t>
            </a:fld>
            <a:endParaRPr lang="en-CA"/>
          </a:p>
        </p:txBody>
      </p:sp>
    </p:spTree>
    <p:extLst>
      <p:ext uri="{BB962C8B-B14F-4D97-AF65-F5344CB8AC3E}">
        <p14:creationId xmlns:p14="http://schemas.microsoft.com/office/powerpoint/2010/main" val="2989718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1D9E78-C93F-41EB-B688-582CE0D34EF2}"/>
              </a:ext>
            </a:extLst>
          </p:cNvPr>
          <p:cNvSpPr>
            <a:spLocks noGrp="1"/>
          </p:cNvSpPr>
          <p:nvPr>
            <p:ph type="dt" sz="half" idx="10"/>
          </p:nvPr>
        </p:nvSpPr>
        <p:spPr/>
        <p:txBody>
          <a:bodyPr/>
          <a:lstStyle/>
          <a:p>
            <a:fld id="{7F56F22D-D611-4C63-94BE-9BD0E1336122}" type="datetimeFigureOut">
              <a:rPr lang="en-CA" smtClean="0"/>
              <a:t>2021-08-13</a:t>
            </a:fld>
            <a:endParaRPr lang="en-CA"/>
          </a:p>
        </p:txBody>
      </p:sp>
      <p:sp>
        <p:nvSpPr>
          <p:cNvPr id="3" name="Footer Placeholder 2">
            <a:extLst>
              <a:ext uri="{FF2B5EF4-FFF2-40B4-BE49-F238E27FC236}">
                <a16:creationId xmlns:a16="http://schemas.microsoft.com/office/drawing/2014/main" id="{05DEF04C-B449-4DC9-947A-BB1599695858}"/>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6EDA56F-E676-4440-99E1-C3CD9C3D1039}"/>
              </a:ext>
            </a:extLst>
          </p:cNvPr>
          <p:cNvSpPr>
            <a:spLocks noGrp="1"/>
          </p:cNvSpPr>
          <p:nvPr>
            <p:ph type="sldNum" sz="quarter" idx="12"/>
          </p:nvPr>
        </p:nvSpPr>
        <p:spPr/>
        <p:txBody>
          <a:bodyPr/>
          <a:lstStyle/>
          <a:p>
            <a:fld id="{17A57747-681C-44CE-B23F-C4C3821447EA}" type="slidenum">
              <a:rPr lang="en-CA" smtClean="0"/>
              <a:t>‹#›</a:t>
            </a:fld>
            <a:endParaRPr lang="en-CA"/>
          </a:p>
        </p:txBody>
      </p:sp>
    </p:spTree>
    <p:extLst>
      <p:ext uri="{BB962C8B-B14F-4D97-AF65-F5344CB8AC3E}">
        <p14:creationId xmlns:p14="http://schemas.microsoft.com/office/powerpoint/2010/main" val="3430003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188E4-64A7-48D2-8F84-5D141EF146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BCD75D1A-AF9B-4029-A7A8-73642A8482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8E2E17E-660C-4B1F-AA2E-7DCFCBBF9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A722858-B423-436D-80F5-F4BC993094DB}"/>
              </a:ext>
            </a:extLst>
          </p:cNvPr>
          <p:cNvSpPr>
            <a:spLocks noGrp="1"/>
          </p:cNvSpPr>
          <p:nvPr>
            <p:ph type="dt" sz="half" idx="10"/>
          </p:nvPr>
        </p:nvSpPr>
        <p:spPr/>
        <p:txBody>
          <a:bodyPr/>
          <a:lstStyle/>
          <a:p>
            <a:fld id="{7F56F22D-D611-4C63-94BE-9BD0E1336122}" type="datetimeFigureOut">
              <a:rPr lang="en-CA" smtClean="0"/>
              <a:t>2021-08-13</a:t>
            </a:fld>
            <a:endParaRPr lang="en-CA"/>
          </a:p>
        </p:txBody>
      </p:sp>
      <p:sp>
        <p:nvSpPr>
          <p:cNvPr id="6" name="Footer Placeholder 5">
            <a:extLst>
              <a:ext uri="{FF2B5EF4-FFF2-40B4-BE49-F238E27FC236}">
                <a16:creationId xmlns:a16="http://schemas.microsoft.com/office/drawing/2014/main" id="{65614C0E-96D1-4F26-919F-503C139D255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3794EA9-C0C4-4151-8BD0-EDCF3F8159C6}"/>
              </a:ext>
            </a:extLst>
          </p:cNvPr>
          <p:cNvSpPr>
            <a:spLocks noGrp="1"/>
          </p:cNvSpPr>
          <p:nvPr>
            <p:ph type="sldNum" sz="quarter" idx="12"/>
          </p:nvPr>
        </p:nvSpPr>
        <p:spPr/>
        <p:txBody>
          <a:bodyPr/>
          <a:lstStyle/>
          <a:p>
            <a:fld id="{17A57747-681C-44CE-B23F-C4C3821447EA}" type="slidenum">
              <a:rPr lang="en-CA" smtClean="0"/>
              <a:t>‹#›</a:t>
            </a:fld>
            <a:endParaRPr lang="en-CA"/>
          </a:p>
        </p:txBody>
      </p:sp>
    </p:spTree>
    <p:extLst>
      <p:ext uri="{BB962C8B-B14F-4D97-AF65-F5344CB8AC3E}">
        <p14:creationId xmlns:p14="http://schemas.microsoft.com/office/powerpoint/2010/main" val="98317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21EF6-E07A-4D8E-B67A-0E088DE23A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E0CFE24-09C7-4382-8F74-49F9A3B33A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1B38E4F9-628D-48A4-B6AC-0CECA77A94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5481429-12DA-4313-B071-A7E64C162C96}"/>
              </a:ext>
            </a:extLst>
          </p:cNvPr>
          <p:cNvSpPr>
            <a:spLocks noGrp="1"/>
          </p:cNvSpPr>
          <p:nvPr>
            <p:ph type="dt" sz="half" idx="10"/>
          </p:nvPr>
        </p:nvSpPr>
        <p:spPr/>
        <p:txBody>
          <a:bodyPr/>
          <a:lstStyle/>
          <a:p>
            <a:fld id="{7F56F22D-D611-4C63-94BE-9BD0E1336122}" type="datetimeFigureOut">
              <a:rPr lang="en-CA" smtClean="0"/>
              <a:t>2021-08-13</a:t>
            </a:fld>
            <a:endParaRPr lang="en-CA"/>
          </a:p>
        </p:txBody>
      </p:sp>
      <p:sp>
        <p:nvSpPr>
          <p:cNvPr id="6" name="Footer Placeholder 5">
            <a:extLst>
              <a:ext uri="{FF2B5EF4-FFF2-40B4-BE49-F238E27FC236}">
                <a16:creationId xmlns:a16="http://schemas.microsoft.com/office/drawing/2014/main" id="{2B0C16EC-6DC7-4C08-8901-2BE3DD2341C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A59A63E6-13AA-423D-9E07-C0AC5CEDF81C}"/>
              </a:ext>
            </a:extLst>
          </p:cNvPr>
          <p:cNvSpPr>
            <a:spLocks noGrp="1"/>
          </p:cNvSpPr>
          <p:nvPr>
            <p:ph type="sldNum" sz="quarter" idx="12"/>
          </p:nvPr>
        </p:nvSpPr>
        <p:spPr/>
        <p:txBody>
          <a:bodyPr/>
          <a:lstStyle/>
          <a:p>
            <a:fld id="{17A57747-681C-44CE-B23F-C4C3821447EA}" type="slidenum">
              <a:rPr lang="en-CA" smtClean="0"/>
              <a:t>‹#›</a:t>
            </a:fld>
            <a:endParaRPr lang="en-CA"/>
          </a:p>
        </p:txBody>
      </p:sp>
    </p:spTree>
    <p:extLst>
      <p:ext uri="{BB962C8B-B14F-4D97-AF65-F5344CB8AC3E}">
        <p14:creationId xmlns:p14="http://schemas.microsoft.com/office/powerpoint/2010/main" val="930712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8A44D-D89E-40AE-9375-B04FD9BF2234}"/>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717A159-23D0-4D25-959B-0DB35504937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0A8E6FC-7B17-44F0-B0CD-2DBF00A49B2F}"/>
              </a:ext>
            </a:extLst>
          </p:cNvPr>
          <p:cNvSpPr>
            <a:spLocks noGrp="1"/>
          </p:cNvSpPr>
          <p:nvPr>
            <p:ph type="dt" sz="half" idx="10"/>
          </p:nvPr>
        </p:nvSpPr>
        <p:spPr/>
        <p:txBody>
          <a:bodyPr/>
          <a:lstStyle/>
          <a:p>
            <a:fld id="{7F56F22D-D611-4C63-94BE-9BD0E1336122}" type="datetimeFigureOut">
              <a:rPr lang="en-CA" smtClean="0"/>
              <a:t>2021-08-13</a:t>
            </a:fld>
            <a:endParaRPr lang="en-CA"/>
          </a:p>
        </p:txBody>
      </p:sp>
      <p:sp>
        <p:nvSpPr>
          <p:cNvPr id="5" name="Footer Placeholder 4">
            <a:extLst>
              <a:ext uri="{FF2B5EF4-FFF2-40B4-BE49-F238E27FC236}">
                <a16:creationId xmlns:a16="http://schemas.microsoft.com/office/drawing/2014/main" id="{D7F0A43A-AB6D-45C6-BD17-12DC1C39E3F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4F57B84-FA54-4F8F-9C5C-0F209DDC2FA2}"/>
              </a:ext>
            </a:extLst>
          </p:cNvPr>
          <p:cNvSpPr>
            <a:spLocks noGrp="1"/>
          </p:cNvSpPr>
          <p:nvPr>
            <p:ph type="sldNum" sz="quarter" idx="12"/>
          </p:nvPr>
        </p:nvSpPr>
        <p:spPr/>
        <p:txBody>
          <a:bodyPr/>
          <a:lstStyle/>
          <a:p>
            <a:fld id="{17A57747-681C-44CE-B23F-C4C3821447EA}" type="slidenum">
              <a:rPr lang="en-CA" smtClean="0"/>
              <a:t>‹#›</a:t>
            </a:fld>
            <a:endParaRPr lang="en-CA"/>
          </a:p>
        </p:txBody>
      </p:sp>
    </p:spTree>
    <p:extLst>
      <p:ext uri="{BB962C8B-B14F-4D97-AF65-F5344CB8AC3E}">
        <p14:creationId xmlns:p14="http://schemas.microsoft.com/office/powerpoint/2010/main" val="3099740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FEDF06-49B1-4CE0-BABA-591DB02BF2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581FC9E-9A72-421B-B0B0-3BA421E65CE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A943AE8-6033-4AB8-AFDF-2CB40D7DB883}"/>
              </a:ext>
            </a:extLst>
          </p:cNvPr>
          <p:cNvSpPr>
            <a:spLocks noGrp="1"/>
          </p:cNvSpPr>
          <p:nvPr>
            <p:ph type="dt" sz="half" idx="10"/>
          </p:nvPr>
        </p:nvSpPr>
        <p:spPr/>
        <p:txBody>
          <a:bodyPr/>
          <a:lstStyle/>
          <a:p>
            <a:fld id="{7F56F22D-D611-4C63-94BE-9BD0E1336122}" type="datetimeFigureOut">
              <a:rPr lang="en-CA" smtClean="0"/>
              <a:t>2021-08-13</a:t>
            </a:fld>
            <a:endParaRPr lang="en-CA"/>
          </a:p>
        </p:txBody>
      </p:sp>
      <p:sp>
        <p:nvSpPr>
          <p:cNvPr id="5" name="Footer Placeholder 4">
            <a:extLst>
              <a:ext uri="{FF2B5EF4-FFF2-40B4-BE49-F238E27FC236}">
                <a16:creationId xmlns:a16="http://schemas.microsoft.com/office/drawing/2014/main" id="{9F7BD522-586F-4FEF-9E1F-01943B033AD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C0F97CB-C462-4F9D-A96D-150D90E29A30}"/>
              </a:ext>
            </a:extLst>
          </p:cNvPr>
          <p:cNvSpPr>
            <a:spLocks noGrp="1"/>
          </p:cNvSpPr>
          <p:nvPr>
            <p:ph type="sldNum" sz="quarter" idx="12"/>
          </p:nvPr>
        </p:nvSpPr>
        <p:spPr/>
        <p:txBody>
          <a:bodyPr/>
          <a:lstStyle/>
          <a:p>
            <a:fld id="{17A57747-681C-44CE-B23F-C4C3821447EA}" type="slidenum">
              <a:rPr lang="en-CA" smtClean="0"/>
              <a:t>‹#›</a:t>
            </a:fld>
            <a:endParaRPr lang="en-CA"/>
          </a:p>
        </p:txBody>
      </p:sp>
    </p:spTree>
    <p:extLst>
      <p:ext uri="{BB962C8B-B14F-4D97-AF65-F5344CB8AC3E}">
        <p14:creationId xmlns:p14="http://schemas.microsoft.com/office/powerpoint/2010/main" val="3676782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6298406" y="1830586"/>
            <a:ext cx="5000625" cy="4420195"/>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half" idx="1"/>
          </p:nvPr>
        </p:nvSpPr>
        <p:spPr>
          <a:xfrm>
            <a:off x="892969" y="1830586"/>
            <a:ext cx="5000625" cy="4420195"/>
          </a:xfrm>
          <a:prstGeom prst="rect">
            <a:avLst/>
          </a:prstGeom>
        </p:spPr>
        <p:txBody>
          <a:bodyPr/>
          <a:lstStyle>
            <a:lvl1pPr marL="241093" indent="-241093">
              <a:spcBef>
                <a:spcPts val="2250"/>
              </a:spcBef>
              <a:defRPr sz="1969"/>
            </a:lvl1pPr>
            <a:lvl2pPr marL="482186" indent="-241093">
              <a:spcBef>
                <a:spcPts val="2250"/>
              </a:spcBef>
              <a:defRPr sz="1969"/>
            </a:lvl2pPr>
            <a:lvl3pPr marL="723279" indent="-241093">
              <a:spcBef>
                <a:spcPts val="2250"/>
              </a:spcBef>
              <a:defRPr sz="1969"/>
            </a:lvl3pPr>
            <a:lvl4pPr marL="964372" indent="-241093">
              <a:spcBef>
                <a:spcPts val="2250"/>
              </a:spcBef>
              <a:defRPr sz="1969"/>
            </a:lvl4pPr>
            <a:lvl5pPr marL="1205465" indent="-241093">
              <a:spcBef>
                <a:spcPts val="2250"/>
              </a:spcBef>
              <a:defRPr sz="1969"/>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65716999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749598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B3D9C0-8425-434C-88B0-805CB094E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37B8513-622F-4D6B-871A-189B8299E0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779ED26-EA1B-45C8-900F-F780BCC33F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56F22D-D611-4C63-94BE-9BD0E1336122}" type="datetimeFigureOut">
              <a:rPr lang="en-CA" smtClean="0"/>
              <a:t>2021-08-13</a:t>
            </a:fld>
            <a:endParaRPr lang="en-CA"/>
          </a:p>
        </p:txBody>
      </p:sp>
      <p:sp>
        <p:nvSpPr>
          <p:cNvPr id="5" name="Footer Placeholder 4">
            <a:extLst>
              <a:ext uri="{FF2B5EF4-FFF2-40B4-BE49-F238E27FC236}">
                <a16:creationId xmlns:a16="http://schemas.microsoft.com/office/drawing/2014/main" id="{75721F3C-6409-417C-9F85-100CE025E5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0D6C6B43-32A8-40CF-8E23-DDE30D85CA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A57747-681C-44CE-B23F-C4C3821447EA}" type="slidenum">
              <a:rPr lang="en-CA" smtClean="0"/>
              <a:t>‹#›</a:t>
            </a:fld>
            <a:endParaRPr lang="en-CA"/>
          </a:p>
        </p:txBody>
      </p:sp>
    </p:spTree>
    <p:extLst>
      <p:ext uri="{BB962C8B-B14F-4D97-AF65-F5344CB8AC3E}">
        <p14:creationId xmlns:p14="http://schemas.microsoft.com/office/powerpoint/2010/main" val="1705100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27290-228B-49F1-AEE8-C191389CD90D}"/>
              </a:ext>
            </a:extLst>
          </p:cNvPr>
          <p:cNvSpPr>
            <a:spLocks noGrp="1"/>
          </p:cNvSpPr>
          <p:nvPr>
            <p:ph type="ctrTitle"/>
          </p:nvPr>
        </p:nvSpPr>
        <p:spPr/>
        <p:txBody>
          <a:bodyPr>
            <a:normAutofit fontScale="90000"/>
          </a:bodyPr>
          <a:lstStyle/>
          <a:p>
            <a:r>
              <a:rPr lang="en-US" dirty="0"/>
              <a:t>SYD466:</a:t>
            </a:r>
            <a:br>
              <a:rPr lang="en-US" dirty="0"/>
            </a:br>
            <a:r>
              <a:rPr lang="en-US" dirty="0"/>
              <a:t>Software Analysis and Design – Part II</a:t>
            </a:r>
            <a:endParaRPr lang="en-CA" dirty="0"/>
          </a:p>
        </p:txBody>
      </p:sp>
      <p:sp>
        <p:nvSpPr>
          <p:cNvPr id="3" name="Subtitle 2">
            <a:extLst>
              <a:ext uri="{FF2B5EF4-FFF2-40B4-BE49-F238E27FC236}">
                <a16:creationId xmlns:a16="http://schemas.microsoft.com/office/drawing/2014/main" id="{DE622B16-A792-47F3-82D0-A82D66F1C86B}"/>
              </a:ext>
            </a:extLst>
          </p:cNvPr>
          <p:cNvSpPr>
            <a:spLocks noGrp="1"/>
          </p:cNvSpPr>
          <p:nvPr>
            <p:ph type="subTitle" idx="1"/>
          </p:nvPr>
        </p:nvSpPr>
        <p:spPr>
          <a:xfrm>
            <a:off x="1524000" y="3752866"/>
            <a:ext cx="9144000" cy="1655762"/>
          </a:xfrm>
        </p:spPr>
        <p:txBody>
          <a:bodyPr>
            <a:normAutofit/>
          </a:bodyPr>
          <a:lstStyle/>
          <a:p>
            <a:r>
              <a:rPr lang="en-US" sz="3200" dirty="0"/>
              <a:t>Lecture 1: Introduction</a:t>
            </a:r>
            <a:endParaRPr lang="en-CA" sz="3200" dirty="0"/>
          </a:p>
        </p:txBody>
      </p:sp>
      <p:sp>
        <p:nvSpPr>
          <p:cNvPr id="4" name="TextBox 3">
            <a:extLst>
              <a:ext uri="{FF2B5EF4-FFF2-40B4-BE49-F238E27FC236}">
                <a16:creationId xmlns:a16="http://schemas.microsoft.com/office/drawing/2014/main" id="{358E6DAA-A93D-4D23-B041-AD41B7FF5AEE}"/>
              </a:ext>
            </a:extLst>
          </p:cNvPr>
          <p:cNvSpPr txBox="1"/>
          <p:nvPr/>
        </p:nvSpPr>
        <p:spPr>
          <a:xfrm>
            <a:off x="152400" y="6172200"/>
            <a:ext cx="8153400" cy="646331"/>
          </a:xfrm>
          <a:prstGeom prst="rect">
            <a:avLst/>
          </a:prstGeom>
          <a:noFill/>
        </p:spPr>
        <p:txBody>
          <a:bodyPr wrap="square" rtlCol="0">
            <a:spAutoFit/>
          </a:bodyPr>
          <a:lstStyle/>
          <a:p>
            <a:r>
              <a:rPr lang="en-CA" i="1" dirty="0"/>
              <a:t>Key Reference:  Systems Analysis and Design In a Changing World, 7</a:t>
            </a:r>
            <a:r>
              <a:rPr lang="en-CA" i="1" baseline="30000" dirty="0"/>
              <a:t>th</a:t>
            </a:r>
            <a:r>
              <a:rPr lang="en-CA" i="1" dirty="0"/>
              <a:t> Edition, </a:t>
            </a:r>
            <a:r>
              <a:rPr lang="en-CA" i="1" dirty="0" err="1"/>
              <a:t>Satzinger</a:t>
            </a:r>
            <a:r>
              <a:rPr lang="en-CA" i="1" dirty="0"/>
              <a:t>, Jackson, </a:t>
            </a:r>
            <a:r>
              <a:rPr lang="en-CA" i="1" dirty="0" err="1"/>
              <a:t>Burd</a:t>
            </a:r>
            <a:endParaRPr lang="en-CA" i="1" dirty="0"/>
          </a:p>
        </p:txBody>
      </p:sp>
    </p:spTree>
    <p:extLst>
      <p:ext uri="{BB962C8B-B14F-4D97-AF65-F5344CB8AC3E}">
        <p14:creationId xmlns:p14="http://schemas.microsoft.com/office/powerpoint/2010/main" val="868739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 you have the prerequisite?</a:t>
            </a:r>
            <a:endParaRPr lang="en-CA" dirty="0"/>
          </a:p>
        </p:txBody>
      </p:sp>
      <p:sp>
        <p:nvSpPr>
          <p:cNvPr id="3" name="Content Placeholder 2"/>
          <p:cNvSpPr>
            <a:spLocks noGrp="1"/>
          </p:cNvSpPr>
          <p:nvPr>
            <p:ph idx="1"/>
          </p:nvPr>
        </p:nvSpPr>
        <p:spPr/>
        <p:txBody>
          <a:bodyPr/>
          <a:lstStyle/>
          <a:p>
            <a:pPr marL="0" indent="0">
              <a:buNone/>
            </a:pPr>
            <a:r>
              <a:rPr lang="en-US" sz="4800" dirty="0"/>
              <a:t>SYD366</a:t>
            </a:r>
          </a:p>
          <a:p>
            <a:endParaRPr lang="en-US" dirty="0"/>
          </a:p>
          <a:p>
            <a:r>
              <a:rPr lang="en-US" dirty="0"/>
              <a:t>If you haven’t taken SYD366, then please contact your student </a:t>
            </a:r>
            <a:r>
              <a:rPr lang="en-US" dirty="0" err="1"/>
              <a:t>advisior</a:t>
            </a:r>
            <a:endParaRPr lang="en-CA" dirty="0"/>
          </a:p>
        </p:txBody>
      </p:sp>
    </p:spTree>
    <p:extLst>
      <p:ext uri="{BB962C8B-B14F-4D97-AF65-F5344CB8AC3E}">
        <p14:creationId xmlns:p14="http://schemas.microsoft.com/office/powerpoint/2010/main" val="77772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1ECF5-BC31-43C6-9DC0-4D0B91143921}"/>
              </a:ext>
            </a:extLst>
          </p:cNvPr>
          <p:cNvSpPr>
            <a:spLocks noGrp="1"/>
          </p:cNvSpPr>
          <p:nvPr>
            <p:ph type="title"/>
          </p:nvPr>
        </p:nvSpPr>
        <p:spPr/>
        <p:txBody>
          <a:bodyPr/>
          <a:lstStyle/>
          <a:p>
            <a:r>
              <a:rPr lang="en-US" dirty="0"/>
              <a:t>The Role of the Systems Analyst</a:t>
            </a:r>
            <a:endParaRPr lang="en-CA"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40060536"/>
              </p:ext>
            </p:extLst>
          </p:nvPr>
        </p:nvGraphicFramePr>
        <p:xfrm>
          <a:off x="838200" y="1825625"/>
          <a:ext cx="10515600" cy="29667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396890815"/>
                    </a:ext>
                  </a:extLst>
                </a:gridCol>
                <a:gridCol w="5257800">
                  <a:extLst>
                    <a:ext uri="{9D8B030D-6E8A-4147-A177-3AD203B41FA5}">
                      <a16:colId xmlns:a16="http://schemas.microsoft.com/office/drawing/2014/main" val="4130453047"/>
                    </a:ext>
                  </a:extLst>
                </a:gridCol>
              </a:tblGrid>
              <a:tr h="370840">
                <a:tc>
                  <a:txBody>
                    <a:bodyPr/>
                    <a:lstStyle/>
                    <a:p>
                      <a:r>
                        <a:rPr lang="en-US" dirty="0"/>
                        <a:t>Development</a:t>
                      </a:r>
                      <a:r>
                        <a:rPr lang="en-US" baseline="0" dirty="0"/>
                        <a:t> Process</a:t>
                      </a:r>
                      <a:endParaRPr lang="en-CA" dirty="0"/>
                    </a:p>
                  </a:txBody>
                  <a:tcPr/>
                </a:tc>
                <a:tc>
                  <a:txBody>
                    <a:bodyPr/>
                    <a:lstStyle/>
                    <a:p>
                      <a:r>
                        <a:rPr lang="en-US" dirty="0"/>
                        <a:t>Course Code</a:t>
                      </a:r>
                      <a:endParaRPr lang="en-CA" dirty="0"/>
                    </a:p>
                  </a:txBody>
                  <a:tcPr/>
                </a:tc>
                <a:extLst>
                  <a:ext uri="{0D108BD9-81ED-4DB2-BD59-A6C34878D82A}">
                    <a16:rowId xmlns:a16="http://schemas.microsoft.com/office/drawing/2014/main" val="3864416843"/>
                  </a:ext>
                </a:extLst>
              </a:tr>
              <a:tr h="370840">
                <a:tc>
                  <a:txBody>
                    <a:bodyPr/>
                    <a:lstStyle/>
                    <a:p>
                      <a:r>
                        <a:rPr lang="en-CA" i="1" dirty="0"/>
                        <a:t>Understand the need (business need)</a:t>
                      </a:r>
                    </a:p>
                  </a:txBody>
                  <a:tcPr/>
                </a:tc>
                <a:tc>
                  <a:txBody>
                    <a:bodyPr/>
                    <a:lstStyle/>
                    <a:p>
                      <a:r>
                        <a:rPr lang="en-US" dirty="0"/>
                        <a:t>SYD466, PRJ566, PRJ666</a:t>
                      </a:r>
                      <a:endParaRPr lang="en-CA" dirty="0"/>
                    </a:p>
                  </a:txBody>
                  <a:tcPr/>
                </a:tc>
                <a:extLst>
                  <a:ext uri="{0D108BD9-81ED-4DB2-BD59-A6C34878D82A}">
                    <a16:rowId xmlns:a16="http://schemas.microsoft.com/office/drawing/2014/main" val="1941381979"/>
                  </a:ext>
                </a:extLst>
              </a:tr>
              <a:tr h="370840">
                <a:tc>
                  <a:txBody>
                    <a:bodyPr/>
                    <a:lstStyle/>
                    <a:p>
                      <a:r>
                        <a:rPr lang="en-US" sz="1800" i="1" dirty="0"/>
                        <a:t>Capture the vision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SYD466, PRJ566, PRJ666</a:t>
                      </a:r>
                      <a:endParaRPr lang="en-CA" dirty="0"/>
                    </a:p>
                  </a:txBody>
                  <a:tcPr/>
                </a:tc>
                <a:extLst>
                  <a:ext uri="{0D108BD9-81ED-4DB2-BD59-A6C34878D82A}">
                    <a16:rowId xmlns:a16="http://schemas.microsoft.com/office/drawing/2014/main" val="2795786948"/>
                  </a:ext>
                </a:extLst>
              </a:tr>
              <a:tr h="370840">
                <a:tc>
                  <a:txBody>
                    <a:bodyPr/>
                    <a:lstStyle/>
                    <a:p>
                      <a:r>
                        <a:rPr lang="en-US" sz="1800" i="1" dirty="0"/>
                        <a:t>Define the 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SYD466, PRJ566, PRJ666</a:t>
                      </a:r>
                      <a:endParaRPr lang="en-CA" dirty="0"/>
                    </a:p>
                  </a:txBody>
                  <a:tcPr/>
                </a:tc>
                <a:extLst>
                  <a:ext uri="{0D108BD9-81ED-4DB2-BD59-A6C34878D82A}">
                    <a16:rowId xmlns:a16="http://schemas.microsoft.com/office/drawing/2014/main" val="3252859679"/>
                  </a:ext>
                </a:extLst>
              </a:tr>
              <a:tr h="370840">
                <a:tc>
                  <a:txBody>
                    <a:bodyPr/>
                    <a:lstStyle/>
                    <a:p>
                      <a:r>
                        <a:rPr lang="en-US" sz="1800" i="1" dirty="0"/>
                        <a:t>Communicate the vision and the 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SYD466, PRJ566, PRJ666</a:t>
                      </a:r>
                      <a:endParaRPr lang="en-CA" dirty="0"/>
                    </a:p>
                  </a:txBody>
                  <a:tcPr/>
                </a:tc>
                <a:extLst>
                  <a:ext uri="{0D108BD9-81ED-4DB2-BD59-A6C34878D82A}">
                    <a16:rowId xmlns:a16="http://schemas.microsoft.com/office/drawing/2014/main" val="2829462026"/>
                  </a:ext>
                </a:extLst>
              </a:tr>
              <a:tr h="370840">
                <a:tc>
                  <a:txBody>
                    <a:bodyPr/>
                    <a:lstStyle/>
                    <a:p>
                      <a:r>
                        <a:rPr lang="en-US" sz="1800" i="1" dirty="0"/>
                        <a:t>Build the solution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PRJ566, PRJ666</a:t>
                      </a:r>
                      <a:endParaRPr lang="en-CA" dirty="0"/>
                    </a:p>
                  </a:txBody>
                  <a:tcPr/>
                </a:tc>
                <a:extLst>
                  <a:ext uri="{0D108BD9-81ED-4DB2-BD59-A6C34878D82A}">
                    <a16:rowId xmlns:a16="http://schemas.microsoft.com/office/drawing/2014/main" val="963967923"/>
                  </a:ext>
                </a:extLst>
              </a:tr>
              <a:tr h="370840">
                <a:tc>
                  <a:txBody>
                    <a:bodyPr/>
                    <a:lstStyle/>
                    <a:p>
                      <a:r>
                        <a:rPr lang="en-US" sz="1800" i="1" dirty="0"/>
                        <a:t>Confirm the solution meets the need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PRJ566, PRJ666</a:t>
                      </a:r>
                      <a:endParaRPr lang="en-CA" dirty="0"/>
                    </a:p>
                  </a:txBody>
                  <a:tcPr/>
                </a:tc>
                <a:extLst>
                  <a:ext uri="{0D108BD9-81ED-4DB2-BD59-A6C34878D82A}">
                    <a16:rowId xmlns:a16="http://schemas.microsoft.com/office/drawing/2014/main" val="24091991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dirty="0"/>
                        <a:t>Launch the solution application</a:t>
                      </a:r>
                      <a:endParaRPr lang="en-CA" sz="1800" i="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PRJ566, PRJ666</a:t>
                      </a:r>
                      <a:endParaRPr lang="en-CA" dirty="0"/>
                    </a:p>
                  </a:txBody>
                  <a:tcPr/>
                </a:tc>
                <a:extLst>
                  <a:ext uri="{0D108BD9-81ED-4DB2-BD59-A6C34878D82A}">
                    <a16:rowId xmlns:a16="http://schemas.microsoft.com/office/drawing/2014/main" val="2312657185"/>
                  </a:ext>
                </a:extLst>
              </a:tr>
            </a:tbl>
          </a:graphicData>
        </a:graphic>
      </p:graphicFrame>
      <p:sp>
        <p:nvSpPr>
          <p:cNvPr id="5" name="TextBox 4"/>
          <p:cNvSpPr txBox="1"/>
          <p:nvPr/>
        </p:nvSpPr>
        <p:spPr>
          <a:xfrm>
            <a:off x="1267968" y="5937504"/>
            <a:ext cx="2062744" cy="369332"/>
          </a:xfrm>
          <a:prstGeom prst="rect">
            <a:avLst/>
          </a:prstGeom>
          <a:noFill/>
        </p:spPr>
        <p:txBody>
          <a:bodyPr wrap="none" rtlCol="0">
            <a:spAutoFit/>
          </a:bodyPr>
          <a:lstStyle/>
          <a:p>
            <a:r>
              <a:rPr lang="en-US" dirty="0"/>
              <a:t>*</a:t>
            </a:r>
            <a:r>
              <a:rPr lang="en-US" i="1" dirty="0"/>
              <a:t>Chapter 1 – page 9</a:t>
            </a:r>
            <a:endParaRPr lang="en-CA" i="1" dirty="0"/>
          </a:p>
        </p:txBody>
      </p:sp>
    </p:spTree>
    <p:extLst>
      <p:ext uri="{BB962C8B-B14F-4D97-AF65-F5344CB8AC3E}">
        <p14:creationId xmlns:p14="http://schemas.microsoft.com/office/powerpoint/2010/main" val="1922630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1ECF5-BC31-43C6-9DC0-4D0B91143921}"/>
              </a:ext>
            </a:extLst>
          </p:cNvPr>
          <p:cNvSpPr>
            <a:spLocks noGrp="1"/>
          </p:cNvSpPr>
          <p:nvPr>
            <p:ph type="title"/>
          </p:nvPr>
        </p:nvSpPr>
        <p:spPr/>
        <p:txBody>
          <a:bodyPr/>
          <a:lstStyle/>
          <a:p>
            <a:r>
              <a:rPr lang="en-US" dirty="0"/>
              <a:t>In SYD466</a:t>
            </a:r>
            <a:endParaRPr lang="en-CA" dirty="0"/>
          </a:p>
        </p:txBody>
      </p:sp>
      <p:sp>
        <p:nvSpPr>
          <p:cNvPr id="5" name="TextBox 4"/>
          <p:cNvSpPr txBox="1"/>
          <p:nvPr/>
        </p:nvSpPr>
        <p:spPr>
          <a:xfrm>
            <a:off x="1267968" y="5937504"/>
            <a:ext cx="2062744" cy="369332"/>
          </a:xfrm>
          <a:prstGeom prst="rect">
            <a:avLst/>
          </a:prstGeom>
          <a:noFill/>
        </p:spPr>
        <p:txBody>
          <a:bodyPr wrap="none" rtlCol="0">
            <a:spAutoFit/>
          </a:bodyPr>
          <a:lstStyle/>
          <a:p>
            <a:r>
              <a:rPr lang="en-US" dirty="0"/>
              <a:t>*</a:t>
            </a:r>
            <a:r>
              <a:rPr lang="en-US" i="1" dirty="0"/>
              <a:t>Chapter 1 – page 9</a:t>
            </a:r>
            <a:endParaRPr lang="en-CA" i="1" dirty="0"/>
          </a:p>
        </p:txBody>
      </p:sp>
      <p:sp>
        <p:nvSpPr>
          <p:cNvPr id="3" name="Content Placeholder 2"/>
          <p:cNvSpPr>
            <a:spLocks noGrp="1"/>
          </p:cNvSpPr>
          <p:nvPr>
            <p:ph idx="1"/>
          </p:nvPr>
        </p:nvSpPr>
        <p:spPr/>
        <p:txBody>
          <a:bodyPr/>
          <a:lstStyle/>
          <a:p>
            <a:r>
              <a:rPr lang="en-US" dirty="0"/>
              <a:t>Review Advanced Design and Deployment Concepts</a:t>
            </a:r>
          </a:p>
          <a:p>
            <a:r>
              <a:rPr lang="en-US" dirty="0"/>
              <a:t>Introduction to System Development</a:t>
            </a:r>
          </a:p>
          <a:p>
            <a:r>
              <a:rPr lang="en-US" dirty="0"/>
              <a:t>Systems Analysis Tasks</a:t>
            </a:r>
          </a:p>
          <a:p>
            <a:r>
              <a:rPr lang="en-US" dirty="0"/>
              <a:t>Essentials of System Design</a:t>
            </a:r>
          </a:p>
          <a:p>
            <a:r>
              <a:rPr lang="en-US" dirty="0"/>
              <a:t>Problem – Business needs</a:t>
            </a:r>
          </a:p>
          <a:p>
            <a:r>
              <a:rPr lang="en-US" dirty="0"/>
              <a:t>Requests for Proposals</a:t>
            </a:r>
            <a:endParaRPr lang="en-CA" dirty="0"/>
          </a:p>
        </p:txBody>
      </p:sp>
    </p:spTree>
    <p:extLst>
      <p:ext uri="{BB962C8B-B14F-4D97-AF65-F5344CB8AC3E}">
        <p14:creationId xmlns:p14="http://schemas.microsoft.com/office/powerpoint/2010/main" val="2270317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1ECF5-BC31-43C6-9DC0-4D0B91143921}"/>
              </a:ext>
            </a:extLst>
          </p:cNvPr>
          <p:cNvSpPr>
            <a:spLocks noGrp="1"/>
          </p:cNvSpPr>
          <p:nvPr>
            <p:ph type="title"/>
          </p:nvPr>
        </p:nvSpPr>
        <p:spPr/>
        <p:txBody>
          <a:bodyPr/>
          <a:lstStyle/>
          <a:p>
            <a:r>
              <a:rPr lang="en-US" dirty="0"/>
              <a:t>In SYD466</a:t>
            </a:r>
            <a:endParaRPr lang="en-CA" dirty="0"/>
          </a:p>
        </p:txBody>
      </p:sp>
      <p:sp>
        <p:nvSpPr>
          <p:cNvPr id="5" name="TextBox 4"/>
          <p:cNvSpPr txBox="1"/>
          <p:nvPr/>
        </p:nvSpPr>
        <p:spPr>
          <a:xfrm>
            <a:off x="1267968" y="5937504"/>
            <a:ext cx="2337178" cy="369332"/>
          </a:xfrm>
          <a:prstGeom prst="rect">
            <a:avLst/>
          </a:prstGeom>
          <a:noFill/>
        </p:spPr>
        <p:txBody>
          <a:bodyPr wrap="none" rtlCol="0">
            <a:spAutoFit/>
          </a:bodyPr>
          <a:lstStyle/>
          <a:p>
            <a:r>
              <a:rPr lang="en-US" dirty="0"/>
              <a:t>*</a:t>
            </a:r>
            <a:r>
              <a:rPr lang="en-US" i="1" dirty="0"/>
              <a:t>Chapter 1 – figure 1-3</a:t>
            </a:r>
            <a:endParaRPr lang="en-CA" i="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61816" y="489366"/>
            <a:ext cx="6940296" cy="5179184"/>
          </a:xfrm>
        </p:spPr>
      </p:pic>
    </p:spTree>
    <p:extLst>
      <p:ext uri="{BB962C8B-B14F-4D97-AF65-F5344CB8AC3E}">
        <p14:creationId xmlns:p14="http://schemas.microsoft.com/office/powerpoint/2010/main" val="2197615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We worked on our Modelling skills in SYD366</a:t>
            </a:r>
          </a:p>
        </p:txBody>
      </p:sp>
      <p:sp>
        <p:nvSpPr>
          <p:cNvPr id="5" name="Content Placeholder 4"/>
          <p:cNvSpPr>
            <a:spLocks noGrp="1"/>
          </p:cNvSpPr>
          <p:nvPr>
            <p:ph sz="quarter" idx="1"/>
          </p:nvPr>
        </p:nvSpPr>
        <p:spPr/>
        <p:txBody>
          <a:bodyPr>
            <a:normAutofit/>
          </a:bodyPr>
          <a:lstStyle/>
          <a:p>
            <a:r>
              <a:rPr lang="en-CA" dirty="0"/>
              <a:t>Domain model</a:t>
            </a:r>
          </a:p>
          <a:p>
            <a:pPr lvl="1"/>
            <a:r>
              <a:rPr lang="en-CA" dirty="0"/>
              <a:t>Domain class diagrams: initial class definitions, attributes, relationships and multiplicity.</a:t>
            </a:r>
          </a:p>
          <a:p>
            <a:r>
              <a:rPr lang="en-CA" dirty="0"/>
              <a:t>Design model</a:t>
            </a:r>
          </a:p>
          <a:p>
            <a:pPr lvl="1"/>
            <a:r>
              <a:rPr lang="en-CA" dirty="0"/>
              <a:t>Object level sequence diagrams</a:t>
            </a:r>
          </a:p>
          <a:p>
            <a:pPr lvl="1"/>
            <a:r>
              <a:rPr lang="en-CA" dirty="0"/>
              <a:t>Design class diagrams—design level classes (reference associations, interfaces, etc.)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SYD466</a:t>
            </a:r>
            <a:endParaRPr lang="en-CA"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997673719"/>
              </p:ext>
            </p:extLst>
          </p:nvPr>
        </p:nvGraphicFramePr>
        <p:xfrm>
          <a:off x="838200" y="1825625"/>
          <a:ext cx="10515600" cy="3942080"/>
        </p:xfrm>
        <a:graphic>
          <a:graphicData uri="http://schemas.openxmlformats.org/drawingml/2006/table">
            <a:tbl>
              <a:tblPr firstRow="1" bandRow="1">
                <a:tableStyleId>{5C22544A-7EE6-4342-B048-85BDC9FD1C3A}</a:tableStyleId>
              </a:tblPr>
              <a:tblGrid>
                <a:gridCol w="3597876">
                  <a:extLst>
                    <a:ext uri="{9D8B030D-6E8A-4147-A177-3AD203B41FA5}">
                      <a16:colId xmlns:a16="http://schemas.microsoft.com/office/drawing/2014/main" val="3303510825"/>
                    </a:ext>
                  </a:extLst>
                </a:gridCol>
                <a:gridCol w="6917724">
                  <a:extLst>
                    <a:ext uri="{9D8B030D-6E8A-4147-A177-3AD203B41FA5}">
                      <a16:colId xmlns:a16="http://schemas.microsoft.com/office/drawing/2014/main" val="2969966013"/>
                    </a:ext>
                  </a:extLst>
                </a:gridCol>
              </a:tblGrid>
              <a:tr h="370840">
                <a:tc>
                  <a:txBody>
                    <a:bodyPr/>
                    <a:lstStyle/>
                    <a:p>
                      <a:r>
                        <a:rPr lang="en-US" dirty="0"/>
                        <a:t>Frequently</a:t>
                      </a:r>
                      <a:r>
                        <a:rPr lang="en-US" baseline="0" dirty="0"/>
                        <a:t> Asked Questions</a:t>
                      </a:r>
                      <a:endParaRPr lang="en-CA" dirty="0"/>
                    </a:p>
                  </a:txBody>
                  <a:tcPr/>
                </a:tc>
                <a:tc>
                  <a:txBody>
                    <a:bodyPr/>
                    <a:lstStyle/>
                    <a:p>
                      <a:endParaRPr lang="en-CA"/>
                    </a:p>
                  </a:txBody>
                  <a:tcPr/>
                </a:tc>
                <a:extLst>
                  <a:ext uri="{0D108BD9-81ED-4DB2-BD59-A6C34878D82A}">
                    <a16:rowId xmlns:a16="http://schemas.microsoft.com/office/drawing/2014/main" val="525095752"/>
                  </a:ext>
                </a:extLst>
              </a:tr>
              <a:tr h="370840">
                <a:tc>
                  <a:txBody>
                    <a:bodyPr/>
                    <a:lstStyle/>
                    <a:p>
                      <a:r>
                        <a:rPr lang="en-US" dirty="0"/>
                        <a:t>Is SYD</a:t>
                      </a:r>
                      <a:r>
                        <a:rPr lang="en-US" baseline="0" dirty="0"/>
                        <a:t>466 a modelling course?</a:t>
                      </a:r>
                      <a:endParaRPr lang="en-CA" dirty="0"/>
                    </a:p>
                  </a:txBody>
                  <a:tcPr/>
                </a:tc>
                <a:tc>
                  <a:txBody>
                    <a:bodyPr/>
                    <a:lstStyle/>
                    <a:p>
                      <a:r>
                        <a:rPr lang="en-US" dirty="0"/>
                        <a:t>Yes, in</a:t>
                      </a:r>
                      <a:r>
                        <a:rPr lang="en-US" baseline="0" dirty="0"/>
                        <a:t> fact we are expanding on our knowledge of modelling from SYD366 </a:t>
                      </a:r>
                      <a:endParaRPr lang="en-CA" dirty="0"/>
                    </a:p>
                  </a:txBody>
                  <a:tcPr/>
                </a:tc>
                <a:extLst>
                  <a:ext uri="{0D108BD9-81ED-4DB2-BD59-A6C34878D82A}">
                    <a16:rowId xmlns:a16="http://schemas.microsoft.com/office/drawing/2014/main" val="2006702527"/>
                  </a:ext>
                </a:extLst>
              </a:tr>
              <a:tr h="370840">
                <a:tc>
                  <a:txBody>
                    <a:bodyPr/>
                    <a:lstStyle/>
                    <a:p>
                      <a:r>
                        <a:rPr lang="en-US" dirty="0"/>
                        <a:t>Is</a:t>
                      </a:r>
                      <a:r>
                        <a:rPr lang="en-US" baseline="0" dirty="0"/>
                        <a:t> SYD466 a business course?</a:t>
                      </a:r>
                      <a:endParaRPr lang="en-CA" dirty="0"/>
                    </a:p>
                  </a:txBody>
                  <a:tcPr/>
                </a:tc>
                <a:tc>
                  <a:txBody>
                    <a:bodyPr/>
                    <a:lstStyle/>
                    <a:p>
                      <a:r>
                        <a:rPr lang="en-US" dirty="0"/>
                        <a:t>Yes,</a:t>
                      </a:r>
                      <a:r>
                        <a:rPr lang="en-US" baseline="0" dirty="0"/>
                        <a:t> you must understand business processes in order to propose solutions</a:t>
                      </a:r>
                      <a:endParaRPr lang="en-CA" dirty="0"/>
                    </a:p>
                  </a:txBody>
                  <a:tcPr/>
                </a:tc>
                <a:extLst>
                  <a:ext uri="{0D108BD9-81ED-4DB2-BD59-A6C34878D82A}">
                    <a16:rowId xmlns:a16="http://schemas.microsoft.com/office/drawing/2014/main" val="3224226935"/>
                  </a:ext>
                </a:extLst>
              </a:tr>
              <a:tr h="370840">
                <a:tc>
                  <a:txBody>
                    <a:bodyPr/>
                    <a:lstStyle/>
                    <a:p>
                      <a:r>
                        <a:rPr lang="en-US" dirty="0"/>
                        <a:t>Is SYD466 a technical writing</a:t>
                      </a:r>
                      <a:r>
                        <a:rPr lang="en-US" baseline="0" dirty="0"/>
                        <a:t> course?</a:t>
                      </a:r>
                      <a:endParaRPr lang="en-CA" dirty="0"/>
                    </a:p>
                  </a:txBody>
                  <a:tcPr/>
                </a:tc>
                <a:tc>
                  <a:txBody>
                    <a:bodyPr/>
                    <a:lstStyle/>
                    <a:p>
                      <a:r>
                        <a:rPr lang="en-US" dirty="0"/>
                        <a:t>Yes,</a:t>
                      </a:r>
                      <a:r>
                        <a:rPr lang="en-US" baseline="0" dirty="0"/>
                        <a:t> you must be able to describe communications between the system and the user in clear technical English</a:t>
                      </a:r>
                      <a:endParaRPr lang="en-CA" dirty="0"/>
                    </a:p>
                  </a:txBody>
                  <a:tcPr/>
                </a:tc>
                <a:extLst>
                  <a:ext uri="{0D108BD9-81ED-4DB2-BD59-A6C34878D82A}">
                    <a16:rowId xmlns:a16="http://schemas.microsoft.com/office/drawing/2014/main" val="3945253856"/>
                  </a:ext>
                </a:extLst>
              </a:tr>
              <a:tr h="370840">
                <a:tc>
                  <a:txBody>
                    <a:bodyPr/>
                    <a:lstStyle/>
                    <a:p>
                      <a:r>
                        <a:rPr lang="en-US" dirty="0"/>
                        <a:t>Is</a:t>
                      </a:r>
                      <a:r>
                        <a:rPr lang="en-US" baseline="0" dirty="0"/>
                        <a:t> SYD466 a research course?</a:t>
                      </a:r>
                      <a:endParaRPr lang="en-CA" dirty="0"/>
                    </a:p>
                  </a:txBody>
                  <a:tcPr/>
                </a:tc>
                <a:tc>
                  <a:txBody>
                    <a:bodyPr/>
                    <a:lstStyle/>
                    <a:p>
                      <a:r>
                        <a:rPr lang="en-US" dirty="0"/>
                        <a:t>Yes, you must</a:t>
                      </a:r>
                      <a:r>
                        <a:rPr lang="en-US" baseline="0" dirty="0"/>
                        <a:t> be able to research topics that you are not an expert in.</a:t>
                      </a:r>
                      <a:endParaRPr lang="en-CA" dirty="0"/>
                    </a:p>
                  </a:txBody>
                  <a:tcPr/>
                </a:tc>
                <a:extLst>
                  <a:ext uri="{0D108BD9-81ED-4DB2-BD59-A6C34878D82A}">
                    <a16:rowId xmlns:a16="http://schemas.microsoft.com/office/drawing/2014/main" val="4054480332"/>
                  </a:ext>
                </a:extLst>
              </a:tr>
              <a:tr h="370840">
                <a:tc>
                  <a:txBody>
                    <a:bodyPr/>
                    <a:lstStyle/>
                    <a:p>
                      <a:r>
                        <a:rPr lang="en-US" dirty="0"/>
                        <a:t>Will</a:t>
                      </a:r>
                      <a:r>
                        <a:rPr lang="en-US" baseline="0" dirty="0"/>
                        <a:t> I be given the answers?</a:t>
                      </a:r>
                      <a:endParaRPr lang="en-CA" dirty="0"/>
                    </a:p>
                  </a:txBody>
                  <a:tcPr/>
                </a:tc>
                <a:tc>
                  <a:txBody>
                    <a:bodyPr/>
                    <a:lstStyle/>
                    <a:p>
                      <a:r>
                        <a:rPr lang="en-US" dirty="0"/>
                        <a:t>No.</a:t>
                      </a:r>
                      <a:r>
                        <a:rPr lang="en-US" baseline="0" dirty="0"/>
                        <a:t>  In systems there are many correct answers so we would never impose our solutions on you.</a:t>
                      </a:r>
                      <a:r>
                        <a:rPr lang="en-US" dirty="0"/>
                        <a:t> </a:t>
                      </a:r>
                      <a:endParaRPr lang="en-CA" dirty="0"/>
                    </a:p>
                  </a:txBody>
                  <a:tcPr/>
                </a:tc>
                <a:extLst>
                  <a:ext uri="{0D108BD9-81ED-4DB2-BD59-A6C34878D82A}">
                    <a16:rowId xmlns:a16="http://schemas.microsoft.com/office/drawing/2014/main" val="2097767909"/>
                  </a:ext>
                </a:extLst>
              </a:tr>
              <a:tr h="370840">
                <a:tc>
                  <a:txBody>
                    <a:bodyPr/>
                    <a:lstStyle/>
                    <a:p>
                      <a:r>
                        <a:rPr lang="en-US" dirty="0"/>
                        <a:t>Is SYD466 a communications</a:t>
                      </a:r>
                      <a:r>
                        <a:rPr lang="en-US" baseline="0" dirty="0"/>
                        <a:t> course?</a:t>
                      </a:r>
                      <a:endParaRPr lang="en-CA" dirty="0"/>
                    </a:p>
                  </a:txBody>
                  <a:tcPr/>
                </a:tc>
                <a:tc>
                  <a:txBody>
                    <a:bodyPr/>
                    <a:lstStyle/>
                    <a:p>
                      <a:r>
                        <a:rPr lang="en-US" dirty="0"/>
                        <a:t>Yes, students</a:t>
                      </a:r>
                      <a:r>
                        <a:rPr lang="en-US" baseline="0" dirty="0"/>
                        <a:t> who ask questions do well.</a:t>
                      </a:r>
                      <a:endParaRPr lang="en-CA" dirty="0"/>
                    </a:p>
                  </a:txBody>
                  <a:tcPr/>
                </a:tc>
                <a:extLst>
                  <a:ext uri="{0D108BD9-81ED-4DB2-BD59-A6C34878D82A}">
                    <a16:rowId xmlns:a16="http://schemas.microsoft.com/office/drawing/2014/main" val="754716359"/>
                  </a:ext>
                </a:extLst>
              </a:tr>
            </a:tbl>
          </a:graphicData>
        </a:graphic>
      </p:graphicFrame>
    </p:spTree>
    <p:extLst>
      <p:ext uri="{BB962C8B-B14F-4D97-AF65-F5344CB8AC3E}">
        <p14:creationId xmlns:p14="http://schemas.microsoft.com/office/powerpoint/2010/main" val="373065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are we doing in our SYD Courses?</a:t>
            </a:r>
          </a:p>
        </p:txBody>
      </p:sp>
      <p:graphicFrame>
        <p:nvGraphicFramePr>
          <p:cNvPr id="5" name="Content Placeholder 4"/>
          <p:cNvGraphicFramePr>
            <a:graphicFrameLocks noGrp="1"/>
          </p:cNvGraphicFramePr>
          <p:nvPr>
            <p:ph idx="1"/>
          </p:nvPr>
        </p:nvGraphicFramePr>
        <p:xfrm>
          <a:off x="2543004" y="1970731"/>
          <a:ext cx="7713662" cy="4246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pPr>
              <a:defRPr/>
            </a:pPr>
            <a:endParaRPr lang="en-US" dirty="0">
              <a:solidFill>
                <a:prstClr val="black"/>
              </a:solidFill>
            </a:endParaRPr>
          </a:p>
        </p:txBody>
      </p:sp>
      <p:sp>
        <p:nvSpPr>
          <p:cNvPr id="3" name="TextBox 2">
            <a:extLst>
              <a:ext uri="{FF2B5EF4-FFF2-40B4-BE49-F238E27FC236}">
                <a16:creationId xmlns:a16="http://schemas.microsoft.com/office/drawing/2014/main" id="{92B025D9-79DD-4587-9122-590ED6D1764D}"/>
              </a:ext>
            </a:extLst>
          </p:cNvPr>
          <p:cNvSpPr txBox="1"/>
          <p:nvPr/>
        </p:nvSpPr>
        <p:spPr>
          <a:xfrm>
            <a:off x="2895600" y="1728946"/>
            <a:ext cx="1402692" cy="646331"/>
          </a:xfrm>
          <a:prstGeom prst="rect">
            <a:avLst/>
          </a:prstGeom>
          <a:noFill/>
        </p:spPr>
        <p:txBody>
          <a:bodyPr wrap="none" rtlCol="0">
            <a:spAutoFit/>
          </a:bodyPr>
          <a:lstStyle/>
          <a:p>
            <a:r>
              <a:rPr lang="en-US" dirty="0"/>
              <a:t>Repeat from </a:t>
            </a:r>
          </a:p>
          <a:p>
            <a:r>
              <a:rPr lang="en-US" dirty="0"/>
              <a:t>SYD366</a:t>
            </a:r>
          </a:p>
        </p:txBody>
      </p:sp>
      <p:sp>
        <p:nvSpPr>
          <p:cNvPr id="6" name="TextBox 5">
            <a:extLst>
              <a:ext uri="{FF2B5EF4-FFF2-40B4-BE49-F238E27FC236}">
                <a16:creationId xmlns:a16="http://schemas.microsoft.com/office/drawing/2014/main" id="{031237B9-9A99-4DCC-B71D-4106D605A592}"/>
              </a:ext>
            </a:extLst>
          </p:cNvPr>
          <p:cNvSpPr txBox="1"/>
          <p:nvPr/>
        </p:nvSpPr>
        <p:spPr>
          <a:xfrm>
            <a:off x="8221043" y="1851530"/>
            <a:ext cx="1055161" cy="646331"/>
          </a:xfrm>
          <a:prstGeom prst="rect">
            <a:avLst/>
          </a:prstGeom>
          <a:noFill/>
        </p:spPr>
        <p:txBody>
          <a:bodyPr wrap="none" rtlCol="0">
            <a:spAutoFit/>
          </a:bodyPr>
          <a:lstStyle/>
          <a:p>
            <a:r>
              <a:rPr lang="en-US" dirty="0"/>
              <a:t>Focusing </a:t>
            </a:r>
          </a:p>
          <a:p>
            <a:r>
              <a:rPr lang="en-US" dirty="0"/>
              <a:t>on</a:t>
            </a:r>
          </a:p>
        </p:txBody>
      </p:sp>
      <p:cxnSp>
        <p:nvCxnSpPr>
          <p:cNvPr id="8" name="Straight Arrow Connector 7">
            <a:extLst>
              <a:ext uri="{FF2B5EF4-FFF2-40B4-BE49-F238E27FC236}">
                <a16:creationId xmlns:a16="http://schemas.microsoft.com/office/drawing/2014/main" id="{0A61EF40-60FC-4A64-8C7D-3E59BF4D0531}"/>
              </a:ext>
            </a:extLst>
          </p:cNvPr>
          <p:cNvCxnSpPr/>
          <p:nvPr/>
        </p:nvCxnSpPr>
        <p:spPr>
          <a:xfrm flipH="1">
            <a:off x="7086600" y="2267028"/>
            <a:ext cx="990600" cy="62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988137E-74A3-4807-8195-7335D0E557C2}"/>
              </a:ext>
            </a:extLst>
          </p:cNvPr>
          <p:cNvCxnSpPr>
            <a:cxnSpLocks/>
          </p:cNvCxnSpPr>
          <p:nvPr/>
        </p:nvCxnSpPr>
        <p:spPr>
          <a:xfrm flipH="1">
            <a:off x="8114072" y="2329110"/>
            <a:ext cx="496529" cy="718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533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did we do in SYD366?</a:t>
            </a:r>
          </a:p>
        </p:txBody>
      </p:sp>
      <p:sp>
        <p:nvSpPr>
          <p:cNvPr id="4" name="Footer Placeholder 3"/>
          <p:cNvSpPr>
            <a:spLocks noGrp="1"/>
          </p:cNvSpPr>
          <p:nvPr>
            <p:ph type="ftr" sz="quarter" idx="11"/>
          </p:nvPr>
        </p:nvSpPr>
        <p:spPr/>
        <p:txBody>
          <a:bodyPr/>
          <a:lstStyle/>
          <a:p>
            <a:pPr>
              <a:defRPr/>
            </a:pPr>
            <a:endParaRPr lang="en-US" dirty="0">
              <a:solidFill>
                <a:prstClr val="black"/>
              </a:solidFill>
            </a:endParaRPr>
          </a:p>
        </p:txBody>
      </p:sp>
      <p:pic>
        <p:nvPicPr>
          <p:cNvPr id="11" name="Content Placeholder 10" descr="A red rectangle with white text&#10;&#10;Description automatically generated with low confidence">
            <a:extLst>
              <a:ext uri="{FF2B5EF4-FFF2-40B4-BE49-F238E27FC236}">
                <a16:creationId xmlns:a16="http://schemas.microsoft.com/office/drawing/2014/main" id="{BB978E9C-D1B1-40B0-A04F-70380DD37635}"/>
              </a:ext>
            </a:extLst>
          </p:cNvPr>
          <p:cNvPicPr>
            <a:picLocks noGrp="1" noChangeAspect="1"/>
          </p:cNvPicPr>
          <p:nvPr>
            <p:ph idx="1"/>
          </p:nvPr>
        </p:nvPicPr>
        <p:blipFill>
          <a:blip r:embed="rId2"/>
          <a:stretch>
            <a:fillRect/>
          </a:stretch>
        </p:blipFill>
        <p:spPr>
          <a:xfrm>
            <a:off x="3487431" y="2533650"/>
            <a:ext cx="1371600" cy="895350"/>
          </a:xfrm>
        </p:spPr>
      </p:pic>
      <p:pic>
        <p:nvPicPr>
          <p:cNvPr id="14" name="Picture 13" descr="A picture containing text, clipart&#10;&#10;Description automatically generated">
            <a:extLst>
              <a:ext uri="{FF2B5EF4-FFF2-40B4-BE49-F238E27FC236}">
                <a16:creationId xmlns:a16="http://schemas.microsoft.com/office/drawing/2014/main" id="{14B48FB8-0989-43F7-A045-A3794916DF80}"/>
              </a:ext>
            </a:extLst>
          </p:cNvPr>
          <p:cNvPicPr>
            <a:picLocks noChangeAspect="1"/>
          </p:cNvPicPr>
          <p:nvPr/>
        </p:nvPicPr>
        <p:blipFill>
          <a:blip r:embed="rId3"/>
          <a:stretch>
            <a:fillRect/>
          </a:stretch>
        </p:blipFill>
        <p:spPr>
          <a:xfrm>
            <a:off x="7300467" y="2506612"/>
            <a:ext cx="1371600" cy="885825"/>
          </a:xfrm>
          <a:prstGeom prst="rect">
            <a:avLst/>
          </a:prstGeom>
        </p:spPr>
      </p:pic>
      <p:sp>
        <p:nvSpPr>
          <p:cNvPr id="15" name="Rectangle 14">
            <a:extLst>
              <a:ext uri="{FF2B5EF4-FFF2-40B4-BE49-F238E27FC236}">
                <a16:creationId xmlns:a16="http://schemas.microsoft.com/office/drawing/2014/main" id="{1DAE2091-814D-4D93-9EFA-393756744E33}"/>
              </a:ext>
            </a:extLst>
          </p:cNvPr>
          <p:cNvSpPr/>
          <p:nvPr/>
        </p:nvSpPr>
        <p:spPr>
          <a:xfrm>
            <a:off x="2514600" y="3948265"/>
            <a:ext cx="1143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Gather</a:t>
            </a:r>
          </a:p>
          <a:p>
            <a:pPr algn="ctr"/>
            <a:r>
              <a:rPr lang="en-US" sz="1200" dirty="0"/>
              <a:t>Requirements</a:t>
            </a:r>
          </a:p>
        </p:txBody>
      </p:sp>
      <p:sp>
        <p:nvSpPr>
          <p:cNvPr id="16" name="Rectangle 15">
            <a:extLst>
              <a:ext uri="{FF2B5EF4-FFF2-40B4-BE49-F238E27FC236}">
                <a16:creationId xmlns:a16="http://schemas.microsoft.com/office/drawing/2014/main" id="{0D0AE3AC-5153-41C9-97AC-19647E69E455}"/>
              </a:ext>
            </a:extLst>
          </p:cNvPr>
          <p:cNvSpPr/>
          <p:nvPr/>
        </p:nvSpPr>
        <p:spPr>
          <a:xfrm>
            <a:off x="3200400" y="5039031"/>
            <a:ext cx="1143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Use Case Development</a:t>
            </a:r>
          </a:p>
        </p:txBody>
      </p:sp>
      <p:sp>
        <p:nvSpPr>
          <p:cNvPr id="18" name="Rectangle 17">
            <a:extLst>
              <a:ext uri="{FF2B5EF4-FFF2-40B4-BE49-F238E27FC236}">
                <a16:creationId xmlns:a16="http://schemas.microsoft.com/office/drawing/2014/main" id="{EE64201E-7849-4AE0-8034-8DD3E116BDD7}"/>
              </a:ext>
            </a:extLst>
          </p:cNvPr>
          <p:cNvSpPr/>
          <p:nvPr/>
        </p:nvSpPr>
        <p:spPr>
          <a:xfrm>
            <a:off x="4966642" y="4139379"/>
            <a:ext cx="1143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Problem Definition</a:t>
            </a:r>
          </a:p>
        </p:txBody>
      </p:sp>
      <p:sp>
        <p:nvSpPr>
          <p:cNvPr id="20" name="Rectangle 19">
            <a:extLst>
              <a:ext uri="{FF2B5EF4-FFF2-40B4-BE49-F238E27FC236}">
                <a16:creationId xmlns:a16="http://schemas.microsoft.com/office/drawing/2014/main" id="{0CC70799-987F-4F60-9FC0-2C7C77F921F2}"/>
              </a:ext>
            </a:extLst>
          </p:cNvPr>
          <p:cNvSpPr/>
          <p:nvPr/>
        </p:nvSpPr>
        <p:spPr>
          <a:xfrm>
            <a:off x="6728967" y="3854138"/>
            <a:ext cx="1143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Use Case Scenarios</a:t>
            </a:r>
          </a:p>
        </p:txBody>
      </p:sp>
      <p:sp>
        <p:nvSpPr>
          <p:cNvPr id="21" name="Rectangle 20">
            <a:extLst>
              <a:ext uri="{FF2B5EF4-FFF2-40B4-BE49-F238E27FC236}">
                <a16:creationId xmlns:a16="http://schemas.microsoft.com/office/drawing/2014/main" id="{656ECACA-8C6F-4777-907F-CB09AA1D9A47}"/>
              </a:ext>
            </a:extLst>
          </p:cNvPr>
          <p:cNvSpPr/>
          <p:nvPr/>
        </p:nvSpPr>
        <p:spPr>
          <a:xfrm>
            <a:off x="7617010" y="5039031"/>
            <a:ext cx="1143000" cy="914400"/>
          </a:xfrm>
          <a:prstGeom prst="rect">
            <a:avLst/>
          </a:prstGeom>
          <a:solidFill>
            <a:srgbClr val="99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Class Diagram</a:t>
            </a:r>
          </a:p>
        </p:txBody>
      </p:sp>
      <p:sp>
        <p:nvSpPr>
          <p:cNvPr id="22" name="Rectangle 21">
            <a:extLst>
              <a:ext uri="{FF2B5EF4-FFF2-40B4-BE49-F238E27FC236}">
                <a16:creationId xmlns:a16="http://schemas.microsoft.com/office/drawing/2014/main" id="{B567B7BB-86D8-49F1-BCF0-4FED9D5C6618}"/>
              </a:ext>
            </a:extLst>
          </p:cNvPr>
          <p:cNvSpPr/>
          <p:nvPr/>
        </p:nvSpPr>
        <p:spPr>
          <a:xfrm>
            <a:off x="8624135" y="3842106"/>
            <a:ext cx="1143000" cy="914400"/>
          </a:xfrm>
          <a:prstGeom prst="rect">
            <a:avLst/>
          </a:prstGeom>
          <a:solidFill>
            <a:srgbClr val="99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Sequence Diagrams</a:t>
            </a:r>
          </a:p>
        </p:txBody>
      </p:sp>
      <p:sp>
        <p:nvSpPr>
          <p:cNvPr id="23" name="TextBox 22">
            <a:extLst>
              <a:ext uri="{FF2B5EF4-FFF2-40B4-BE49-F238E27FC236}">
                <a16:creationId xmlns:a16="http://schemas.microsoft.com/office/drawing/2014/main" id="{5089C63C-0746-44E3-B641-E75E0CEB06A0}"/>
              </a:ext>
            </a:extLst>
          </p:cNvPr>
          <p:cNvSpPr txBox="1"/>
          <p:nvPr/>
        </p:nvSpPr>
        <p:spPr>
          <a:xfrm>
            <a:off x="5203176" y="1718849"/>
            <a:ext cx="1298753" cy="461665"/>
          </a:xfrm>
          <a:prstGeom prst="rect">
            <a:avLst/>
          </a:prstGeom>
          <a:noFill/>
        </p:spPr>
        <p:txBody>
          <a:bodyPr wrap="none" rtlCol="0">
            <a:spAutoFit/>
          </a:bodyPr>
          <a:lstStyle/>
          <a:p>
            <a:r>
              <a:rPr lang="en-US" sz="1200" dirty="0"/>
              <a:t>Blue: provided</a:t>
            </a:r>
          </a:p>
          <a:p>
            <a:r>
              <a:rPr lang="en-US" sz="1200" dirty="0"/>
              <a:t>Purple: your work</a:t>
            </a:r>
          </a:p>
        </p:txBody>
      </p:sp>
      <p:cxnSp>
        <p:nvCxnSpPr>
          <p:cNvPr id="25" name="Straight Connector 24">
            <a:extLst>
              <a:ext uri="{FF2B5EF4-FFF2-40B4-BE49-F238E27FC236}">
                <a16:creationId xmlns:a16="http://schemas.microsoft.com/office/drawing/2014/main" id="{E6171BB6-263E-40F3-AA6A-C030CC5D4A3D}"/>
              </a:ext>
            </a:extLst>
          </p:cNvPr>
          <p:cNvCxnSpPr/>
          <p:nvPr/>
        </p:nvCxnSpPr>
        <p:spPr>
          <a:xfrm flipH="1">
            <a:off x="3200400" y="3429000"/>
            <a:ext cx="685800" cy="4251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28C6A9E-02B1-4F4A-962B-CCBAF4649724}"/>
              </a:ext>
            </a:extLst>
          </p:cNvPr>
          <p:cNvCxnSpPr/>
          <p:nvPr/>
        </p:nvCxnSpPr>
        <p:spPr>
          <a:xfrm flipH="1">
            <a:off x="3886200" y="3453528"/>
            <a:ext cx="457200" cy="16793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26D2226-7894-4DF7-AB15-31271D75A07C}"/>
              </a:ext>
            </a:extLst>
          </p:cNvPr>
          <p:cNvCxnSpPr>
            <a:cxnSpLocks/>
            <a:endCxn id="18" idx="0"/>
          </p:cNvCxnSpPr>
          <p:nvPr/>
        </p:nvCxnSpPr>
        <p:spPr>
          <a:xfrm>
            <a:off x="4724400" y="3392437"/>
            <a:ext cx="813742" cy="7469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96667A-C78C-4E6C-BCBE-6378B5046004}"/>
              </a:ext>
            </a:extLst>
          </p:cNvPr>
          <p:cNvCxnSpPr/>
          <p:nvPr/>
        </p:nvCxnSpPr>
        <p:spPr>
          <a:xfrm flipH="1">
            <a:off x="7332972" y="3429000"/>
            <a:ext cx="284039" cy="49102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8F48D23-6371-411A-AF07-3066CA768643}"/>
              </a:ext>
            </a:extLst>
          </p:cNvPr>
          <p:cNvCxnSpPr>
            <a:stCxn id="14" idx="2"/>
            <a:endCxn id="21" idx="0"/>
          </p:cNvCxnSpPr>
          <p:nvPr/>
        </p:nvCxnSpPr>
        <p:spPr>
          <a:xfrm>
            <a:off x="7986268" y="3392437"/>
            <a:ext cx="202243" cy="16465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F941888-4E34-4011-AFC9-2CCBA3B80992}"/>
              </a:ext>
            </a:extLst>
          </p:cNvPr>
          <p:cNvCxnSpPr>
            <a:endCxn id="22" idx="0"/>
          </p:cNvCxnSpPr>
          <p:nvPr/>
        </p:nvCxnSpPr>
        <p:spPr>
          <a:xfrm>
            <a:off x="8308837" y="3429001"/>
            <a:ext cx="967235" cy="51655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4285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are we doing in SYD466?</a:t>
            </a:r>
          </a:p>
        </p:txBody>
      </p:sp>
      <p:sp>
        <p:nvSpPr>
          <p:cNvPr id="4" name="Footer Placeholder 3"/>
          <p:cNvSpPr>
            <a:spLocks noGrp="1"/>
          </p:cNvSpPr>
          <p:nvPr>
            <p:ph type="ftr" sz="quarter" idx="11"/>
          </p:nvPr>
        </p:nvSpPr>
        <p:spPr/>
        <p:txBody>
          <a:bodyPr/>
          <a:lstStyle/>
          <a:p>
            <a:pPr>
              <a:defRPr/>
            </a:pPr>
            <a:endParaRPr lang="en-US" dirty="0">
              <a:solidFill>
                <a:prstClr val="black"/>
              </a:solidFill>
            </a:endParaRPr>
          </a:p>
        </p:txBody>
      </p:sp>
      <p:pic>
        <p:nvPicPr>
          <p:cNvPr id="11" name="Content Placeholder 10" descr="A red rectangle with white text&#10;&#10;Description automatically generated with low confidence">
            <a:extLst>
              <a:ext uri="{FF2B5EF4-FFF2-40B4-BE49-F238E27FC236}">
                <a16:creationId xmlns:a16="http://schemas.microsoft.com/office/drawing/2014/main" id="{BB978E9C-D1B1-40B0-A04F-70380DD37635}"/>
              </a:ext>
            </a:extLst>
          </p:cNvPr>
          <p:cNvPicPr>
            <a:picLocks noGrp="1" noChangeAspect="1"/>
          </p:cNvPicPr>
          <p:nvPr>
            <p:ph idx="1"/>
          </p:nvPr>
        </p:nvPicPr>
        <p:blipFill>
          <a:blip r:embed="rId2"/>
          <a:stretch>
            <a:fillRect/>
          </a:stretch>
        </p:blipFill>
        <p:spPr>
          <a:xfrm>
            <a:off x="3487431" y="2533650"/>
            <a:ext cx="1371600" cy="895350"/>
          </a:xfrm>
        </p:spPr>
      </p:pic>
      <p:pic>
        <p:nvPicPr>
          <p:cNvPr id="14" name="Picture 13" descr="A picture containing text, clipart&#10;&#10;Description automatically generated">
            <a:extLst>
              <a:ext uri="{FF2B5EF4-FFF2-40B4-BE49-F238E27FC236}">
                <a16:creationId xmlns:a16="http://schemas.microsoft.com/office/drawing/2014/main" id="{14B48FB8-0989-43F7-A045-A3794916DF80}"/>
              </a:ext>
            </a:extLst>
          </p:cNvPr>
          <p:cNvPicPr>
            <a:picLocks noChangeAspect="1"/>
          </p:cNvPicPr>
          <p:nvPr/>
        </p:nvPicPr>
        <p:blipFill>
          <a:blip r:embed="rId3"/>
          <a:stretch>
            <a:fillRect/>
          </a:stretch>
        </p:blipFill>
        <p:spPr>
          <a:xfrm>
            <a:off x="7300467" y="2506612"/>
            <a:ext cx="1371600" cy="885825"/>
          </a:xfrm>
          <a:prstGeom prst="rect">
            <a:avLst/>
          </a:prstGeom>
        </p:spPr>
      </p:pic>
      <p:sp>
        <p:nvSpPr>
          <p:cNvPr id="15" name="Rectangle 14">
            <a:extLst>
              <a:ext uri="{FF2B5EF4-FFF2-40B4-BE49-F238E27FC236}">
                <a16:creationId xmlns:a16="http://schemas.microsoft.com/office/drawing/2014/main" id="{1DAE2091-814D-4D93-9EFA-393756744E33}"/>
              </a:ext>
            </a:extLst>
          </p:cNvPr>
          <p:cNvSpPr/>
          <p:nvPr/>
        </p:nvSpPr>
        <p:spPr>
          <a:xfrm>
            <a:off x="2514600" y="3948265"/>
            <a:ext cx="1143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Gather</a:t>
            </a:r>
          </a:p>
          <a:p>
            <a:pPr algn="ctr"/>
            <a:r>
              <a:rPr lang="en-US" sz="1200" dirty="0"/>
              <a:t>Requirements</a:t>
            </a:r>
          </a:p>
        </p:txBody>
      </p:sp>
      <p:sp>
        <p:nvSpPr>
          <p:cNvPr id="16" name="Rectangle 15">
            <a:extLst>
              <a:ext uri="{FF2B5EF4-FFF2-40B4-BE49-F238E27FC236}">
                <a16:creationId xmlns:a16="http://schemas.microsoft.com/office/drawing/2014/main" id="{0D0AE3AC-5153-41C9-97AC-19647E69E455}"/>
              </a:ext>
            </a:extLst>
          </p:cNvPr>
          <p:cNvSpPr/>
          <p:nvPr/>
        </p:nvSpPr>
        <p:spPr>
          <a:xfrm>
            <a:off x="3200400" y="5039031"/>
            <a:ext cx="1143000" cy="914400"/>
          </a:xfrm>
          <a:prstGeom prst="rect">
            <a:avLst/>
          </a:prstGeom>
          <a:solidFill>
            <a:srgbClr val="99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Use Case Development</a:t>
            </a:r>
          </a:p>
        </p:txBody>
      </p:sp>
      <p:sp>
        <p:nvSpPr>
          <p:cNvPr id="18" name="Rectangle 17">
            <a:extLst>
              <a:ext uri="{FF2B5EF4-FFF2-40B4-BE49-F238E27FC236}">
                <a16:creationId xmlns:a16="http://schemas.microsoft.com/office/drawing/2014/main" id="{EE64201E-7849-4AE0-8034-8DD3E116BDD7}"/>
              </a:ext>
            </a:extLst>
          </p:cNvPr>
          <p:cNvSpPr/>
          <p:nvPr/>
        </p:nvSpPr>
        <p:spPr>
          <a:xfrm>
            <a:off x="4779025" y="3998860"/>
            <a:ext cx="1143000" cy="914400"/>
          </a:xfrm>
          <a:prstGeom prst="rect">
            <a:avLst/>
          </a:prstGeom>
          <a:solidFill>
            <a:srgbClr val="99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Problem Definition</a:t>
            </a:r>
          </a:p>
        </p:txBody>
      </p:sp>
      <p:sp>
        <p:nvSpPr>
          <p:cNvPr id="20" name="Rectangle 19">
            <a:extLst>
              <a:ext uri="{FF2B5EF4-FFF2-40B4-BE49-F238E27FC236}">
                <a16:creationId xmlns:a16="http://schemas.microsoft.com/office/drawing/2014/main" id="{0CC70799-987F-4F60-9FC0-2C7C77F921F2}"/>
              </a:ext>
            </a:extLst>
          </p:cNvPr>
          <p:cNvSpPr/>
          <p:nvPr/>
        </p:nvSpPr>
        <p:spPr>
          <a:xfrm>
            <a:off x="6220118" y="3998860"/>
            <a:ext cx="1143000" cy="914400"/>
          </a:xfrm>
          <a:prstGeom prst="rect">
            <a:avLst/>
          </a:prstGeom>
          <a:solidFill>
            <a:srgbClr val="99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Use Case Scenarios</a:t>
            </a:r>
          </a:p>
        </p:txBody>
      </p:sp>
      <p:sp>
        <p:nvSpPr>
          <p:cNvPr id="21" name="Rectangle 20">
            <a:extLst>
              <a:ext uri="{FF2B5EF4-FFF2-40B4-BE49-F238E27FC236}">
                <a16:creationId xmlns:a16="http://schemas.microsoft.com/office/drawing/2014/main" id="{656ECACA-8C6F-4777-907F-CB09AA1D9A47}"/>
              </a:ext>
            </a:extLst>
          </p:cNvPr>
          <p:cNvSpPr/>
          <p:nvPr/>
        </p:nvSpPr>
        <p:spPr>
          <a:xfrm>
            <a:off x="6279719" y="5260184"/>
            <a:ext cx="1143000" cy="914400"/>
          </a:xfrm>
          <a:prstGeom prst="rect">
            <a:avLst/>
          </a:prstGeom>
          <a:solidFill>
            <a:srgbClr val="99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Class Diagram</a:t>
            </a:r>
          </a:p>
        </p:txBody>
      </p:sp>
      <p:sp>
        <p:nvSpPr>
          <p:cNvPr id="22" name="Rectangle 21">
            <a:extLst>
              <a:ext uri="{FF2B5EF4-FFF2-40B4-BE49-F238E27FC236}">
                <a16:creationId xmlns:a16="http://schemas.microsoft.com/office/drawing/2014/main" id="{B567B7BB-86D8-49F1-BCF0-4FED9D5C6618}"/>
              </a:ext>
            </a:extLst>
          </p:cNvPr>
          <p:cNvSpPr/>
          <p:nvPr/>
        </p:nvSpPr>
        <p:spPr>
          <a:xfrm>
            <a:off x="9151258" y="3854138"/>
            <a:ext cx="1143000" cy="914400"/>
          </a:xfrm>
          <a:prstGeom prst="rect">
            <a:avLst/>
          </a:prstGeom>
          <a:solidFill>
            <a:srgbClr val="99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Sequence Diagrams</a:t>
            </a:r>
          </a:p>
        </p:txBody>
      </p:sp>
      <p:sp>
        <p:nvSpPr>
          <p:cNvPr id="23" name="TextBox 22">
            <a:extLst>
              <a:ext uri="{FF2B5EF4-FFF2-40B4-BE49-F238E27FC236}">
                <a16:creationId xmlns:a16="http://schemas.microsoft.com/office/drawing/2014/main" id="{5089C63C-0746-44E3-B641-E75E0CEB06A0}"/>
              </a:ext>
            </a:extLst>
          </p:cNvPr>
          <p:cNvSpPr txBox="1"/>
          <p:nvPr/>
        </p:nvSpPr>
        <p:spPr>
          <a:xfrm>
            <a:off x="5203176" y="1718849"/>
            <a:ext cx="1298753" cy="461665"/>
          </a:xfrm>
          <a:prstGeom prst="rect">
            <a:avLst/>
          </a:prstGeom>
          <a:noFill/>
        </p:spPr>
        <p:txBody>
          <a:bodyPr wrap="none" rtlCol="0">
            <a:spAutoFit/>
          </a:bodyPr>
          <a:lstStyle/>
          <a:p>
            <a:r>
              <a:rPr lang="en-US" sz="1200" dirty="0"/>
              <a:t>Blue: provided</a:t>
            </a:r>
          </a:p>
          <a:p>
            <a:r>
              <a:rPr lang="en-US" sz="1200" dirty="0"/>
              <a:t>Purple: your work</a:t>
            </a:r>
          </a:p>
        </p:txBody>
      </p:sp>
      <p:cxnSp>
        <p:nvCxnSpPr>
          <p:cNvPr id="25" name="Straight Connector 24">
            <a:extLst>
              <a:ext uri="{FF2B5EF4-FFF2-40B4-BE49-F238E27FC236}">
                <a16:creationId xmlns:a16="http://schemas.microsoft.com/office/drawing/2014/main" id="{E6171BB6-263E-40F3-AA6A-C030CC5D4A3D}"/>
              </a:ext>
            </a:extLst>
          </p:cNvPr>
          <p:cNvCxnSpPr/>
          <p:nvPr/>
        </p:nvCxnSpPr>
        <p:spPr>
          <a:xfrm flipH="1">
            <a:off x="3200400" y="3429000"/>
            <a:ext cx="685800" cy="4251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28C6A9E-02B1-4F4A-962B-CCBAF4649724}"/>
              </a:ext>
            </a:extLst>
          </p:cNvPr>
          <p:cNvCxnSpPr/>
          <p:nvPr/>
        </p:nvCxnSpPr>
        <p:spPr>
          <a:xfrm flipH="1">
            <a:off x="3886200" y="3453528"/>
            <a:ext cx="457200" cy="16793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26D2226-7894-4DF7-AB15-31271D75A07C}"/>
              </a:ext>
            </a:extLst>
          </p:cNvPr>
          <p:cNvCxnSpPr>
            <a:cxnSpLocks/>
          </p:cNvCxnSpPr>
          <p:nvPr/>
        </p:nvCxnSpPr>
        <p:spPr>
          <a:xfrm>
            <a:off x="4724401" y="3392436"/>
            <a:ext cx="820431" cy="569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96667A-C78C-4E6C-BCBE-6378B5046004}"/>
              </a:ext>
            </a:extLst>
          </p:cNvPr>
          <p:cNvCxnSpPr/>
          <p:nvPr/>
        </p:nvCxnSpPr>
        <p:spPr>
          <a:xfrm flipH="1">
            <a:off x="7332972" y="3429000"/>
            <a:ext cx="284039" cy="49102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8F48D23-6371-411A-AF07-3066CA768643}"/>
              </a:ext>
            </a:extLst>
          </p:cNvPr>
          <p:cNvCxnSpPr>
            <a:cxnSpLocks/>
            <a:stCxn id="14" idx="2"/>
          </p:cNvCxnSpPr>
          <p:nvPr/>
        </p:nvCxnSpPr>
        <p:spPr>
          <a:xfrm flipH="1">
            <a:off x="7363119" y="3392436"/>
            <a:ext cx="623149" cy="1867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F941888-4E34-4011-AFC9-2CCBA3B80992}"/>
              </a:ext>
            </a:extLst>
          </p:cNvPr>
          <p:cNvCxnSpPr>
            <a:cxnSpLocks/>
            <a:endCxn id="22" idx="0"/>
          </p:cNvCxnSpPr>
          <p:nvPr/>
        </p:nvCxnSpPr>
        <p:spPr>
          <a:xfrm>
            <a:off x="8557768" y="3392436"/>
            <a:ext cx="1164991" cy="461702"/>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8365EB92-C8E9-41AF-A7FF-427EC3B3654E}"/>
              </a:ext>
            </a:extLst>
          </p:cNvPr>
          <p:cNvSpPr/>
          <p:nvPr/>
        </p:nvSpPr>
        <p:spPr>
          <a:xfrm>
            <a:off x="7617010" y="5260184"/>
            <a:ext cx="1143000" cy="914400"/>
          </a:xfrm>
          <a:prstGeom prst="rect">
            <a:avLst/>
          </a:prstGeom>
          <a:solidFill>
            <a:srgbClr val="99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UI Design</a:t>
            </a:r>
          </a:p>
        </p:txBody>
      </p:sp>
      <p:sp>
        <p:nvSpPr>
          <p:cNvPr id="30" name="Rectangle 29">
            <a:extLst>
              <a:ext uri="{FF2B5EF4-FFF2-40B4-BE49-F238E27FC236}">
                <a16:creationId xmlns:a16="http://schemas.microsoft.com/office/drawing/2014/main" id="{DD0554D2-26E5-4817-9670-0F036C0BD80E}"/>
              </a:ext>
            </a:extLst>
          </p:cNvPr>
          <p:cNvSpPr/>
          <p:nvPr/>
        </p:nvSpPr>
        <p:spPr>
          <a:xfrm>
            <a:off x="8928404" y="5260184"/>
            <a:ext cx="1143000" cy="914400"/>
          </a:xfrm>
          <a:prstGeom prst="rect">
            <a:avLst/>
          </a:prstGeom>
          <a:solidFill>
            <a:srgbClr val="99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Activity Diagram</a:t>
            </a:r>
          </a:p>
        </p:txBody>
      </p:sp>
      <p:cxnSp>
        <p:nvCxnSpPr>
          <p:cNvPr id="13" name="Straight Connector 12">
            <a:extLst>
              <a:ext uri="{FF2B5EF4-FFF2-40B4-BE49-F238E27FC236}">
                <a16:creationId xmlns:a16="http://schemas.microsoft.com/office/drawing/2014/main" id="{9599BCE6-18F3-481C-B5B4-D79004ABF64F}"/>
              </a:ext>
            </a:extLst>
          </p:cNvPr>
          <p:cNvCxnSpPr>
            <a:endCxn id="24" idx="0"/>
          </p:cNvCxnSpPr>
          <p:nvPr/>
        </p:nvCxnSpPr>
        <p:spPr>
          <a:xfrm>
            <a:off x="8188510" y="3392436"/>
            <a:ext cx="0" cy="1867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BB61172-029A-4A3B-81DF-4E7A443E2201}"/>
              </a:ext>
            </a:extLst>
          </p:cNvPr>
          <p:cNvCxnSpPr/>
          <p:nvPr/>
        </p:nvCxnSpPr>
        <p:spPr>
          <a:xfrm>
            <a:off x="8305800" y="3392436"/>
            <a:ext cx="845458" cy="186774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792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B2FAD-56B9-403D-811F-A5158DADECE1}"/>
              </a:ext>
            </a:extLst>
          </p:cNvPr>
          <p:cNvSpPr>
            <a:spLocks noGrp="1"/>
          </p:cNvSpPr>
          <p:nvPr>
            <p:ph type="title"/>
          </p:nvPr>
        </p:nvSpPr>
        <p:spPr/>
        <p:txBody>
          <a:bodyPr/>
          <a:lstStyle/>
          <a:p>
            <a:r>
              <a:rPr lang="en-US" dirty="0"/>
              <a:t>Our Intent</a:t>
            </a:r>
          </a:p>
        </p:txBody>
      </p:sp>
      <p:sp>
        <p:nvSpPr>
          <p:cNvPr id="3" name="Content Placeholder 2">
            <a:extLst>
              <a:ext uri="{FF2B5EF4-FFF2-40B4-BE49-F238E27FC236}">
                <a16:creationId xmlns:a16="http://schemas.microsoft.com/office/drawing/2014/main" id="{5DF4ECC6-004A-48EB-995F-04787203D879}"/>
              </a:ext>
            </a:extLst>
          </p:cNvPr>
          <p:cNvSpPr>
            <a:spLocks noGrp="1"/>
          </p:cNvSpPr>
          <p:nvPr>
            <p:ph idx="1"/>
          </p:nvPr>
        </p:nvSpPr>
        <p:spPr/>
        <p:txBody>
          <a:bodyPr/>
          <a:lstStyle/>
          <a:p>
            <a:r>
              <a:rPr lang="en-US" dirty="0"/>
              <a:t>Provide students with the building blocks required to work effectively using SDLC</a:t>
            </a:r>
          </a:p>
          <a:p>
            <a:endParaRPr lang="en-US" dirty="0"/>
          </a:p>
          <a:p>
            <a:r>
              <a:rPr lang="en-US" dirty="0"/>
              <a:t>For a comprehensive overview, please read the required textbook for SYD466</a:t>
            </a:r>
          </a:p>
          <a:p>
            <a:pPr marL="0" indent="0">
              <a:buNone/>
            </a:pPr>
            <a:r>
              <a:rPr lang="en-CA" sz="1800" dirty="0">
                <a:latin typeface="Times New Roman" panose="02020603050405020304" pitchFamily="18" charset="0"/>
                <a:ea typeface="Times New Roman" panose="02020603050405020304" pitchFamily="18" charset="0"/>
                <a:cs typeface="Times New Roman" panose="02020603050405020304" pitchFamily="18" charset="0"/>
              </a:rPr>
              <a:t>	Systems Analysis and Design in a Changing World by John </a:t>
            </a:r>
            <a:r>
              <a:rPr lang="en-CA" sz="1800" dirty="0" err="1">
                <a:latin typeface="Times New Roman" panose="02020603050405020304" pitchFamily="18" charset="0"/>
                <a:ea typeface="Times New Roman" panose="02020603050405020304" pitchFamily="18" charset="0"/>
                <a:cs typeface="Times New Roman" panose="02020603050405020304" pitchFamily="18" charset="0"/>
              </a:rPr>
              <a:t>Satzinger</a:t>
            </a:r>
            <a:r>
              <a:rPr lang="en-CA" sz="1800" dirty="0">
                <a:latin typeface="Times New Roman" panose="02020603050405020304" pitchFamily="18" charset="0"/>
                <a:ea typeface="Times New Roman" panose="02020603050405020304" pitchFamily="18" charset="0"/>
                <a:cs typeface="Times New Roman" panose="02020603050405020304" pitchFamily="18" charset="0"/>
              </a:rPr>
              <a:t>, Robert Jackson, and Stephen 	</a:t>
            </a:r>
            <a:r>
              <a:rPr lang="en-CA" sz="1800" dirty="0" err="1">
                <a:latin typeface="Times New Roman" panose="02020603050405020304" pitchFamily="18" charset="0"/>
                <a:ea typeface="Times New Roman" panose="02020603050405020304" pitchFamily="18" charset="0"/>
                <a:cs typeface="Times New Roman" panose="02020603050405020304" pitchFamily="18" charset="0"/>
              </a:rPr>
              <a:t>D.Burd</a:t>
            </a:r>
            <a:r>
              <a:rPr lang="en-CA" sz="1800" dirty="0">
                <a:latin typeface="Times New Roman" panose="02020603050405020304" pitchFamily="18" charset="0"/>
                <a:ea typeface="Times New Roman" panose="02020603050405020304" pitchFamily="18" charset="0"/>
                <a:cs typeface="Times New Roman" panose="02020603050405020304" pitchFamily="18" charset="0"/>
              </a:rPr>
              <a:t>,</a:t>
            </a:r>
            <a:br>
              <a:rPr lang="en-CA" sz="1800" dirty="0">
                <a:latin typeface="Times New Roman" panose="02020603050405020304" pitchFamily="18" charset="0"/>
                <a:ea typeface="Times New Roman" panose="02020603050405020304" pitchFamily="18" charset="0"/>
                <a:cs typeface="Times New Roman" panose="02020603050405020304" pitchFamily="18" charset="0"/>
              </a:rPr>
            </a:br>
            <a:r>
              <a:rPr lang="en-CA" sz="1800" dirty="0">
                <a:latin typeface="Times New Roman" panose="02020603050405020304" pitchFamily="18" charset="0"/>
                <a:ea typeface="Times New Roman" panose="02020603050405020304" pitchFamily="18" charset="0"/>
                <a:cs typeface="Times New Roman" panose="02020603050405020304" pitchFamily="18" charset="0"/>
              </a:rPr>
              <a:t>	Cengage Learning,  ISBN 978-1-305-11720-4</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Footer Placeholder 3">
            <a:extLst>
              <a:ext uri="{FF2B5EF4-FFF2-40B4-BE49-F238E27FC236}">
                <a16:creationId xmlns:a16="http://schemas.microsoft.com/office/drawing/2014/main" id="{50B82BD7-DB6F-48CB-A4DE-F3E6D8A4740A}"/>
              </a:ext>
            </a:extLst>
          </p:cNvPr>
          <p:cNvSpPr>
            <a:spLocks noGrp="1"/>
          </p:cNvSpPr>
          <p:nvPr>
            <p:ph type="ftr" sz="quarter" idx="11"/>
          </p:nvPr>
        </p:nvSpPr>
        <p:spPr/>
        <p:txBody>
          <a:bodyPr/>
          <a:lstStyle/>
          <a:p>
            <a:pPr>
              <a:defRPr/>
            </a:pPr>
            <a:endParaRPr lang="en-US" dirty="0">
              <a:solidFill>
                <a:prstClr val="black"/>
              </a:solidFill>
            </a:endParaRPr>
          </a:p>
        </p:txBody>
      </p:sp>
    </p:spTree>
    <p:extLst>
      <p:ext uri="{BB962C8B-B14F-4D97-AF65-F5344CB8AC3E}">
        <p14:creationId xmlns:p14="http://schemas.microsoft.com/office/powerpoint/2010/main" val="3034282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CA" dirty="0"/>
              <a:t>So let’s look at the Advanced Concepts of Composition and Generalization</a:t>
            </a:r>
          </a:p>
        </p:txBody>
      </p:sp>
      <p:sp>
        <p:nvSpPr>
          <p:cNvPr id="2" name="Subtitle 1"/>
          <p:cNvSpPr>
            <a:spLocks noGrp="1"/>
          </p:cNvSpPr>
          <p:nvPr>
            <p:ph type="subTitle" idx="1"/>
          </p:nvPr>
        </p:nvSpPr>
        <p:spPr/>
        <p:txBody>
          <a:bodyPr/>
          <a:lstStyle/>
          <a:p>
            <a:endParaRPr lang="en-CA"/>
          </a:p>
        </p:txBody>
      </p:sp>
    </p:spTree>
    <p:extLst>
      <p:ext uri="{BB962C8B-B14F-4D97-AF65-F5344CB8AC3E}">
        <p14:creationId xmlns:p14="http://schemas.microsoft.com/office/powerpoint/2010/main" val="1493493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14892B-16B9-46C4-A239-6432F64ECC65}"/>
              </a:ext>
            </a:extLst>
          </p:cNvPr>
          <p:cNvSpPr>
            <a:spLocks noGrp="1"/>
          </p:cNvSpPr>
          <p:nvPr>
            <p:ph type="title"/>
          </p:nvPr>
        </p:nvSpPr>
        <p:spPr/>
        <p:txBody>
          <a:bodyPr/>
          <a:lstStyle/>
          <a:p>
            <a:r>
              <a:rPr lang="en-US" dirty="0"/>
              <a:t>A Composition Relationship</a:t>
            </a:r>
            <a:endParaRPr lang="en-CA" dirty="0"/>
          </a:p>
        </p:txBody>
      </p:sp>
      <p:sp>
        <p:nvSpPr>
          <p:cNvPr id="5" name="Content Placeholder 4">
            <a:extLst>
              <a:ext uri="{FF2B5EF4-FFF2-40B4-BE49-F238E27FC236}">
                <a16:creationId xmlns:a16="http://schemas.microsoft.com/office/drawing/2014/main" id="{D8EC0824-4C72-4392-B5B9-03D5BB3DEA0A}"/>
              </a:ext>
            </a:extLst>
          </p:cNvPr>
          <p:cNvSpPr>
            <a:spLocks noGrp="1"/>
          </p:cNvSpPr>
          <p:nvPr>
            <p:ph idx="1"/>
          </p:nvPr>
        </p:nvSpPr>
        <p:spPr/>
        <p:txBody>
          <a:bodyPr/>
          <a:lstStyle/>
          <a:p>
            <a:r>
              <a:rPr lang="en-CA" dirty="0"/>
              <a:t>Two classes are in a composition relationship if one contains the other. If the container class disappears, so does the contained or component class; or it might be put into another container. The contained class cannot exist outside the container.</a:t>
            </a:r>
          </a:p>
          <a:p>
            <a:pPr marL="0" indent="0">
              <a:buNone/>
            </a:pPr>
            <a:r>
              <a:rPr lang="en-CA" dirty="0"/>
              <a:t> </a:t>
            </a:r>
          </a:p>
          <a:p>
            <a:r>
              <a:rPr lang="en-CA" dirty="0"/>
              <a:t>One of the key reasons for using a composition in modeling is to simplify the model. You can model at the container class level instead of modeling at the more detailed component class level.</a:t>
            </a:r>
          </a:p>
          <a:p>
            <a:endParaRPr lang="en-CA" dirty="0"/>
          </a:p>
        </p:txBody>
      </p:sp>
    </p:spTree>
    <p:extLst>
      <p:ext uri="{BB962C8B-B14F-4D97-AF65-F5344CB8AC3E}">
        <p14:creationId xmlns:p14="http://schemas.microsoft.com/office/powerpoint/2010/main" val="2735081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AB445A-FE17-4FA6-B202-26ED5F8B401B}"/>
              </a:ext>
            </a:extLst>
          </p:cNvPr>
          <p:cNvSpPr>
            <a:spLocks noGrp="1"/>
          </p:cNvSpPr>
          <p:nvPr>
            <p:ph idx="1"/>
          </p:nvPr>
        </p:nvSpPr>
        <p:spPr>
          <a:xfrm>
            <a:off x="838200" y="1857080"/>
            <a:ext cx="5572027" cy="4319882"/>
          </a:xfrm>
          <a:ln w="22225">
            <a:solidFill>
              <a:schemeClr val="tx1"/>
            </a:solidFill>
          </a:ln>
        </p:spPr>
        <p:txBody>
          <a:bodyPr>
            <a:normAutofit/>
          </a:bodyPr>
          <a:lstStyle/>
          <a:p>
            <a:pPr marL="0" indent="0">
              <a:buNone/>
            </a:pPr>
            <a:r>
              <a:rPr lang="en-CA" sz="2600" i="1" dirty="0"/>
              <a:t> Hardware Store </a:t>
            </a:r>
            <a:r>
              <a:rPr lang="en-CA" sz="2600" b="1" i="1" dirty="0"/>
              <a:t>3/16/2015</a:t>
            </a:r>
          </a:p>
          <a:p>
            <a:pPr marL="0" indent="0">
              <a:buNone/>
            </a:pPr>
            <a:r>
              <a:rPr lang="en-CA" sz="2600" i="1" dirty="0"/>
              <a:t>Invoice ID </a:t>
            </a:r>
            <a:r>
              <a:rPr lang="en-CA" sz="2600" b="1" i="1" dirty="0"/>
              <a:t>4455533</a:t>
            </a:r>
          </a:p>
          <a:p>
            <a:pPr marL="0" indent="0">
              <a:buNone/>
            </a:pPr>
            <a:r>
              <a:rPr lang="en-CA" sz="2600" dirty="0"/>
              <a:t> </a:t>
            </a:r>
          </a:p>
          <a:p>
            <a:pPr marL="0" indent="0">
              <a:buNone/>
            </a:pPr>
            <a:r>
              <a:rPr lang="en-CA" sz="2600" i="1" dirty="0"/>
              <a:t>22334 White ceiling paint		</a:t>
            </a:r>
            <a:r>
              <a:rPr lang="en-CA" sz="2600" dirty="0"/>
              <a:t>$60</a:t>
            </a:r>
          </a:p>
          <a:p>
            <a:pPr marL="0" indent="0">
              <a:buNone/>
            </a:pPr>
            <a:r>
              <a:rPr lang="en-CA" sz="2600" i="1" dirty="0"/>
              <a:t>2 @ $30</a:t>
            </a:r>
          </a:p>
          <a:p>
            <a:pPr marL="0" indent="0">
              <a:buNone/>
            </a:pPr>
            <a:r>
              <a:rPr lang="en-CA" sz="2600" i="1" dirty="0"/>
              <a:t>11554 High coverage primer	</a:t>
            </a:r>
            <a:r>
              <a:rPr lang="en-CA" sz="2600" dirty="0"/>
              <a:t>$40</a:t>
            </a:r>
          </a:p>
          <a:p>
            <a:pPr marL="0" indent="0">
              <a:buNone/>
            </a:pPr>
            <a:r>
              <a:rPr lang="en-CA" sz="2600" i="1" dirty="0"/>
              <a:t>Subtotal				</a:t>
            </a:r>
            <a:r>
              <a:rPr lang="en-CA" sz="2600" dirty="0"/>
              <a:t>$100</a:t>
            </a:r>
          </a:p>
          <a:p>
            <a:pPr marL="0" indent="0">
              <a:buNone/>
            </a:pPr>
            <a:r>
              <a:rPr lang="en-CA" sz="2600" i="1" dirty="0"/>
              <a:t>Taxes @ 13%				</a:t>
            </a:r>
            <a:r>
              <a:rPr lang="en-CA" sz="2600" dirty="0"/>
              <a:t>$13</a:t>
            </a:r>
          </a:p>
          <a:p>
            <a:pPr marL="0" indent="0">
              <a:buNone/>
            </a:pPr>
            <a:r>
              <a:rPr lang="en-CA" sz="2600" b="1" i="1" dirty="0"/>
              <a:t>Total</a:t>
            </a:r>
            <a:r>
              <a:rPr lang="en-CA" sz="2600" i="1" dirty="0"/>
              <a:t>					</a:t>
            </a:r>
            <a:r>
              <a:rPr lang="en-CA" sz="2600" b="1" dirty="0"/>
              <a:t>$113</a:t>
            </a:r>
          </a:p>
          <a:p>
            <a:endParaRPr lang="en-CA" dirty="0"/>
          </a:p>
        </p:txBody>
      </p:sp>
      <p:sp>
        <p:nvSpPr>
          <p:cNvPr id="6" name="TextBox 5">
            <a:extLst>
              <a:ext uri="{FF2B5EF4-FFF2-40B4-BE49-F238E27FC236}">
                <a16:creationId xmlns:a16="http://schemas.microsoft.com/office/drawing/2014/main" id="{D4B2430F-1777-4986-8B83-9EF660C05E88}"/>
              </a:ext>
            </a:extLst>
          </p:cNvPr>
          <p:cNvSpPr txBox="1"/>
          <p:nvPr/>
        </p:nvSpPr>
        <p:spPr>
          <a:xfrm flipH="1">
            <a:off x="424204" y="414779"/>
            <a:ext cx="11095350" cy="1077218"/>
          </a:xfrm>
          <a:prstGeom prst="rect">
            <a:avLst/>
          </a:prstGeom>
          <a:noFill/>
        </p:spPr>
        <p:txBody>
          <a:bodyPr wrap="square" rtlCol="0">
            <a:spAutoFit/>
          </a:bodyPr>
          <a:lstStyle/>
          <a:p>
            <a:r>
              <a:rPr lang="en-US" sz="2400" b="1" dirty="0"/>
              <a:t>Example</a:t>
            </a:r>
            <a:r>
              <a:rPr lang="en-US" sz="2000" b="1" dirty="0"/>
              <a:t>: </a:t>
            </a:r>
            <a:r>
              <a:rPr lang="en-CA" sz="2000" dirty="0"/>
              <a:t>Consider the relationship of an invoice to all of the items on the invoice.  A hardware store invoice that totals $113 might contain 2 gallons of white ceiling paint at $30 each, and one gallon of high coverage primer at $40. The invoice might look like this:</a:t>
            </a:r>
          </a:p>
        </p:txBody>
      </p:sp>
    </p:spTree>
    <p:extLst>
      <p:ext uri="{BB962C8B-B14F-4D97-AF65-F5344CB8AC3E}">
        <p14:creationId xmlns:p14="http://schemas.microsoft.com/office/powerpoint/2010/main" val="2779981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E275F-0128-4E6C-B828-8558BC76AA3C}"/>
              </a:ext>
            </a:extLst>
          </p:cNvPr>
          <p:cNvSpPr>
            <a:spLocks noGrp="1"/>
          </p:cNvSpPr>
          <p:nvPr>
            <p:ph type="title"/>
          </p:nvPr>
        </p:nvSpPr>
        <p:spPr/>
        <p:txBody>
          <a:bodyPr/>
          <a:lstStyle/>
          <a:p>
            <a:r>
              <a:rPr lang="en-US" dirty="0"/>
              <a:t>Analysis:</a:t>
            </a:r>
            <a:endParaRPr lang="en-CA" dirty="0"/>
          </a:p>
        </p:txBody>
      </p:sp>
      <p:sp>
        <p:nvSpPr>
          <p:cNvPr id="3" name="Content Placeholder 2">
            <a:extLst>
              <a:ext uri="{FF2B5EF4-FFF2-40B4-BE49-F238E27FC236}">
                <a16:creationId xmlns:a16="http://schemas.microsoft.com/office/drawing/2014/main" id="{7AA30AE8-8DB2-461A-B648-C26CAA9E9B49}"/>
              </a:ext>
            </a:extLst>
          </p:cNvPr>
          <p:cNvSpPr>
            <a:spLocks noGrp="1"/>
          </p:cNvSpPr>
          <p:nvPr>
            <p:ph idx="1"/>
          </p:nvPr>
        </p:nvSpPr>
        <p:spPr/>
        <p:txBody>
          <a:bodyPr>
            <a:normAutofit fontScale="92500"/>
          </a:bodyPr>
          <a:lstStyle/>
          <a:p>
            <a:r>
              <a:rPr lang="en-CA" dirty="0"/>
              <a:t>There are two invoice lines here – one for the white ceiling paint and one for the primer. The invoice lines tell us what was purchased and how many were purchased.  The rest of the information consists of calculations.</a:t>
            </a:r>
          </a:p>
          <a:p>
            <a:r>
              <a:rPr lang="en-CA" dirty="0"/>
              <a:t> If we delete the invoice, the invoice lines will disappear since they cannot be part of nothing.</a:t>
            </a:r>
          </a:p>
          <a:p>
            <a:r>
              <a:rPr lang="en-US" dirty="0"/>
              <a:t>I</a:t>
            </a:r>
            <a:r>
              <a:rPr lang="en-CA" dirty="0" err="1"/>
              <a:t>nvoice</a:t>
            </a:r>
            <a:r>
              <a:rPr lang="en-CA" dirty="0"/>
              <a:t> lines have no meaning outside of Invoice</a:t>
            </a:r>
          </a:p>
          <a:p>
            <a:r>
              <a:rPr lang="en-US" dirty="0"/>
              <a:t>I</a:t>
            </a:r>
            <a:r>
              <a:rPr lang="en-CA" dirty="0" err="1"/>
              <a:t>nvoice</a:t>
            </a:r>
            <a:r>
              <a:rPr lang="en-CA" dirty="0"/>
              <a:t> “contains” the invoice lines</a:t>
            </a:r>
          </a:p>
          <a:p>
            <a:r>
              <a:rPr lang="en-US" i="1" dirty="0"/>
              <a:t>Note: composition must be explicitly defined in the implementation (code) else the containment won’t happen.</a:t>
            </a:r>
            <a:endParaRPr lang="en-CA" i="1" dirty="0"/>
          </a:p>
          <a:p>
            <a:pPr marL="0" indent="0">
              <a:buNone/>
            </a:pPr>
            <a:r>
              <a:rPr lang="en-CA" dirty="0"/>
              <a:t> </a:t>
            </a:r>
          </a:p>
          <a:p>
            <a:pPr marL="0" indent="0">
              <a:buNone/>
            </a:pPr>
            <a:endParaRPr lang="en-CA" dirty="0"/>
          </a:p>
        </p:txBody>
      </p:sp>
    </p:spTree>
    <p:extLst>
      <p:ext uri="{BB962C8B-B14F-4D97-AF65-F5344CB8AC3E}">
        <p14:creationId xmlns:p14="http://schemas.microsoft.com/office/powerpoint/2010/main" val="986393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76BE2-D202-4D93-9060-A0E243183081}"/>
              </a:ext>
            </a:extLst>
          </p:cNvPr>
          <p:cNvSpPr>
            <a:spLocks noGrp="1"/>
          </p:cNvSpPr>
          <p:nvPr>
            <p:ph type="title"/>
          </p:nvPr>
        </p:nvSpPr>
        <p:spPr/>
        <p:txBody>
          <a:bodyPr/>
          <a:lstStyle/>
          <a:p>
            <a:r>
              <a:rPr lang="en-US" dirty="0"/>
              <a:t>Example Composition:</a:t>
            </a:r>
            <a:endParaRPr lang="en-CA" dirty="0"/>
          </a:p>
        </p:txBody>
      </p:sp>
      <p:pic>
        <p:nvPicPr>
          <p:cNvPr id="4" name="Content Placeholder 3">
            <a:extLst>
              <a:ext uri="{FF2B5EF4-FFF2-40B4-BE49-F238E27FC236}">
                <a16:creationId xmlns:a16="http://schemas.microsoft.com/office/drawing/2014/main" id="{8146796D-CE8F-4941-A1CA-268522BB0907}"/>
              </a:ext>
            </a:extLst>
          </p:cNvPr>
          <p:cNvPicPr>
            <a:picLocks noGrp="1"/>
          </p:cNvPicPr>
          <p:nvPr>
            <p:ph idx="1"/>
          </p:nvPr>
        </p:nvPicPr>
        <p:blipFill rotWithShape="1">
          <a:blip r:embed="rId2"/>
          <a:srcRect r="26728" b="28763"/>
          <a:stretch/>
        </p:blipFill>
        <p:spPr bwMode="auto">
          <a:xfrm>
            <a:off x="1634189" y="2349264"/>
            <a:ext cx="6227766" cy="4240072"/>
          </a:xfrm>
          <a:prstGeom prst="rect">
            <a:avLst/>
          </a:prstGeom>
          <a:noFill/>
          <a:ln w="9525">
            <a:noFill/>
            <a:miter lim="800000"/>
            <a:headEnd/>
            <a:tailEnd/>
          </a:ln>
        </p:spPr>
      </p:pic>
      <p:sp>
        <p:nvSpPr>
          <p:cNvPr id="5" name="Rectangle 4">
            <a:extLst>
              <a:ext uri="{FF2B5EF4-FFF2-40B4-BE49-F238E27FC236}">
                <a16:creationId xmlns:a16="http://schemas.microsoft.com/office/drawing/2014/main" id="{6D1D2AEA-BEF6-43BE-9336-539EA0118068}"/>
              </a:ext>
            </a:extLst>
          </p:cNvPr>
          <p:cNvSpPr/>
          <p:nvPr/>
        </p:nvSpPr>
        <p:spPr>
          <a:xfrm>
            <a:off x="838200" y="1518267"/>
            <a:ext cx="10030905" cy="830997"/>
          </a:xfrm>
          <a:prstGeom prst="rect">
            <a:avLst/>
          </a:prstGeom>
        </p:spPr>
        <p:txBody>
          <a:bodyPr wrap="square">
            <a:spAutoFit/>
          </a:bodyPr>
          <a:lstStyle/>
          <a:p>
            <a:r>
              <a:rPr lang="en-CA" sz="2400" dirty="0"/>
              <a:t>We could model this as follows, assuming a very simplified Product class to help keep things simple:</a:t>
            </a:r>
          </a:p>
        </p:txBody>
      </p:sp>
    </p:spTree>
    <p:extLst>
      <p:ext uri="{BB962C8B-B14F-4D97-AF65-F5344CB8AC3E}">
        <p14:creationId xmlns:p14="http://schemas.microsoft.com/office/powerpoint/2010/main" val="1715187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510B89-C232-4115-8D5C-6C81A9032492}"/>
              </a:ext>
            </a:extLst>
          </p:cNvPr>
          <p:cNvSpPr>
            <a:spLocks noGrp="1"/>
          </p:cNvSpPr>
          <p:nvPr>
            <p:ph type="title"/>
          </p:nvPr>
        </p:nvSpPr>
        <p:spPr/>
        <p:txBody>
          <a:bodyPr/>
          <a:lstStyle/>
          <a:p>
            <a:r>
              <a:rPr lang="en-US" dirty="0"/>
              <a:t>Association between Invoice and </a:t>
            </a:r>
            <a:r>
              <a:rPr lang="en-US" dirty="0" err="1"/>
              <a:t>InvoiceLine</a:t>
            </a:r>
            <a:endParaRPr lang="en-CA" dirty="0"/>
          </a:p>
        </p:txBody>
      </p:sp>
      <p:sp>
        <p:nvSpPr>
          <p:cNvPr id="9" name="Content Placeholder 8">
            <a:extLst>
              <a:ext uri="{FF2B5EF4-FFF2-40B4-BE49-F238E27FC236}">
                <a16:creationId xmlns:a16="http://schemas.microsoft.com/office/drawing/2014/main" id="{FD5A6539-98FD-451D-B5A4-0E1F8F85C6A8}"/>
              </a:ext>
            </a:extLst>
          </p:cNvPr>
          <p:cNvSpPr>
            <a:spLocks noGrp="1"/>
          </p:cNvSpPr>
          <p:nvPr>
            <p:ph idx="1"/>
          </p:nvPr>
        </p:nvSpPr>
        <p:spPr/>
        <p:txBody>
          <a:bodyPr/>
          <a:lstStyle/>
          <a:p>
            <a:pPr marL="0" indent="0">
              <a:buNone/>
            </a:pPr>
            <a:r>
              <a:rPr lang="en-US" dirty="0"/>
              <a:t>Invoice becomes the “proxy” for </a:t>
            </a:r>
            <a:r>
              <a:rPr lang="en-US" dirty="0" err="1"/>
              <a:t>InvoiceLine</a:t>
            </a:r>
            <a:r>
              <a:rPr lang="en-US" dirty="0"/>
              <a:t>:</a:t>
            </a:r>
          </a:p>
          <a:p>
            <a:r>
              <a:rPr lang="en-US" dirty="0"/>
              <a:t> Invoice takes responsibility for creation of </a:t>
            </a:r>
            <a:r>
              <a:rPr lang="en-US" dirty="0" err="1"/>
              <a:t>InvoiceLine</a:t>
            </a:r>
            <a:r>
              <a:rPr lang="en-US" dirty="0"/>
              <a:t> objects</a:t>
            </a:r>
          </a:p>
          <a:p>
            <a:r>
              <a:rPr lang="en-US" dirty="0"/>
              <a:t>Invoice controls all communication to </a:t>
            </a:r>
            <a:r>
              <a:rPr lang="en-US" dirty="0" err="1"/>
              <a:t>InvoiceLine</a:t>
            </a:r>
            <a:r>
              <a:rPr lang="en-US" dirty="0"/>
              <a:t> objects</a:t>
            </a:r>
          </a:p>
          <a:p>
            <a:r>
              <a:rPr lang="en-US" dirty="0"/>
              <a:t>No other class knows that </a:t>
            </a:r>
            <a:r>
              <a:rPr lang="en-US" dirty="0" err="1"/>
              <a:t>InvoiceLine</a:t>
            </a:r>
            <a:r>
              <a:rPr lang="en-US" dirty="0"/>
              <a:t> exists</a:t>
            </a:r>
          </a:p>
          <a:p>
            <a:r>
              <a:rPr lang="en-US" dirty="0"/>
              <a:t>But </a:t>
            </a:r>
            <a:r>
              <a:rPr lang="en-US" dirty="0" err="1"/>
              <a:t>InvoiceLine</a:t>
            </a:r>
            <a:r>
              <a:rPr lang="en-US" dirty="0"/>
              <a:t> knows about other classes (e.g. Product)</a:t>
            </a:r>
          </a:p>
          <a:p>
            <a:r>
              <a:rPr lang="en-US" dirty="0" err="1"/>
              <a:t>InvoiceLine</a:t>
            </a:r>
            <a:r>
              <a:rPr lang="en-US" dirty="0"/>
              <a:t> might not even appear in higher level models; only Invoice.</a:t>
            </a:r>
          </a:p>
          <a:p>
            <a:endParaRPr lang="en-CA" dirty="0"/>
          </a:p>
        </p:txBody>
      </p:sp>
    </p:spTree>
    <p:extLst>
      <p:ext uri="{BB962C8B-B14F-4D97-AF65-F5344CB8AC3E}">
        <p14:creationId xmlns:p14="http://schemas.microsoft.com/office/powerpoint/2010/main" val="1954295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DAE29-EE6A-4935-8E3A-EECC360C4D47}"/>
              </a:ext>
            </a:extLst>
          </p:cNvPr>
          <p:cNvSpPr>
            <a:spLocks noGrp="1"/>
          </p:cNvSpPr>
          <p:nvPr>
            <p:ph type="title"/>
          </p:nvPr>
        </p:nvSpPr>
        <p:spPr>
          <a:xfrm>
            <a:off x="648929" y="629266"/>
            <a:ext cx="3505495" cy="1622321"/>
          </a:xfrm>
        </p:spPr>
        <p:txBody>
          <a:bodyPr>
            <a:normAutofit/>
          </a:bodyPr>
          <a:lstStyle/>
          <a:p>
            <a:r>
              <a:rPr lang="en-US" dirty="0" err="1"/>
              <a:t>InvoiceLine</a:t>
            </a:r>
            <a:r>
              <a:rPr lang="en-US" dirty="0"/>
              <a:t> and Product</a:t>
            </a:r>
            <a:endParaRPr lang="en-CA" dirty="0"/>
          </a:p>
        </p:txBody>
      </p:sp>
      <p:sp>
        <p:nvSpPr>
          <p:cNvPr id="3" name="Content Placeholder 2">
            <a:extLst>
              <a:ext uri="{FF2B5EF4-FFF2-40B4-BE49-F238E27FC236}">
                <a16:creationId xmlns:a16="http://schemas.microsoft.com/office/drawing/2014/main" id="{5BD9E7EA-F818-4FD9-9FE1-2D1C65E2A825}"/>
              </a:ext>
            </a:extLst>
          </p:cNvPr>
          <p:cNvSpPr>
            <a:spLocks noGrp="1"/>
          </p:cNvSpPr>
          <p:nvPr>
            <p:ph idx="1"/>
          </p:nvPr>
        </p:nvSpPr>
        <p:spPr>
          <a:xfrm>
            <a:off x="648931" y="2438400"/>
            <a:ext cx="3505494" cy="3785419"/>
          </a:xfrm>
        </p:spPr>
        <p:txBody>
          <a:bodyPr>
            <a:normAutofit/>
          </a:bodyPr>
          <a:lstStyle/>
          <a:p>
            <a:r>
              <a:rPr lang="en-US" sz="2000" dirty="0"/>
              <a:t>Note that </a:t>
            </a:r>
            <a:r>
              <a:rPr lang="en-US" sz="2000" dirty="0" err="1"/>
              <a:t>InvoiceLine</a:t>
            </a:r>
            <a:r>
              <a:rPr lang="en-US" sz="2000" dirty="0"/>
              <a:t> has access to Product through a reference attribute (</a:t>
            </a:r>
            <a:r>
              <a:rPr lang="en-US" sz="2000" dirty="0" err="1"/>
              <a:t>product:Product</a:t>
            </a:r>
            <a:r>
              <a:rPr lang="en-US" sz="2000" dirty="0"/>
              <a:t>)</a:t>
            </a:r>
          </a:p>
          <a:p>
            <a:r>
              <a:rPr lang="en-US" sz="2000" dirty="0"/>
              <a:t>This means Invoice can query </a:t>
            </a:r>
            <a:r>
              <a:rPr lang="en-US" sz="2000" dirty="0" err="1"/>
              <a:t>InvoiceLine</a:t>
            </a:r>
            <a:r>
              <a:rPr lang="en-US" sz="2000" dirty="0"/>
              <a:t> to get the product number or name of the product purchased</a:t>
            </a:r>
          </a:p>
          <a:p>
            <a:r>
              <a:rPr lang="en-US" sz="2000" dirty="0"/>
              <a:t>Product has no access to </a:t>
            </a:r>
            <a:r>
              <a:rPr lang="en-US" sz="2000" dirty="0" err="1"/>
              <a:t>InvoiceLine</a:t>
            </a:r>
            <a:r>
              <a:rPr lang="en-US" sz="2000" dirty="0"/>
              <a:t>; it cannot “see” </a:t>
            </a:r>
            <a:r>
              <a:rPr lang="en-US" sz="2000" dirty="0" err="1"/>
              <a:t>invoiceLine</a:t>
            </a:r>
            <a:r>
              <a:rPr lang="en-US" sz="2000" dirty="0"/>
              <a:t> </a:t>
            </a:r>
            <a:endParaRPr lang="en-CA" sz="2000" dirty="0"/>
          </a:p>
        </p:txBody>
      </p:sp>
      <p:pic>
        <p:nvPicPr>
          <p:cNvPr id="5" name="Content Placeholder 3">
            <a:extLst>
              <a:ext uri="{FF2B5EF4-FFF2-40B4-BE49-F238E27FC236}">
                <a16:creationId xmlns:a16="http://schemas.microsoft.com/office/drawing/2014/main" id="{D3EFD7FC-BA06-4552-A3F7-C7D72E7D296A}"/>
              </a:ext>
            </a:extLst>
          </p:cNvPr>
          <p:cNvPicPr>
            <a:picLocks/>
          </p:cNvPicPr>
          <p:nvPr/>
        </p:nvPicPr>
        <p:blipFill rotWithShape="1">
          <a:blip r:embed="rId2"/>
          <a:srcRect r="26728" b="28763"/>
          <a:stretch/>
        </p:blipFill>
        <p:spPr bwMode="auto">
          <a:xfrm>
            <a:off x="5608319" y="1630805"/>
            <a:ext cx="5614835" cy="3443171"/>
          </a:xfrm>
          <a:prstGeom prst="rect">
            <a:avLst/>
          </a:prstGeom>
          <a:noFill/>
          <a:effectLst/>
        </p:spPr>
      </p:pic>
    </p:spTree>
    <p:extLst>
      <p:ext uri="{BB962C8B-B14F-4D97-AF65-F5344CB8AC3E}">
        <p14:creationId xmlns:p14="http://schemas.microsoft.com/office/powerpoint/2010/main" val="667010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D32F1-247B-4D5D-B9BE-0F31FD430AF0}"/>
              </a:ext>
            </a:extLst>
          </p:cNvPr>
          <p:cNvSpPr>
            <a:spLocks noGrp="1"/>
          </p:cNvSpPr>
          <p:nvPr>
            <p:ph type="title"/>
          </p:nvPr>
        </p:nvSpPr>
        <p:spPr/>
        <p:txBody>
          <a:bodyPr>
            <a:normAutofit fontScale="90000"/>
          </a:bodyPr>
          <a:lstStyle/>
          <a:p>
            <a:r>
              <a:rPr lang="en-US" b="1" dirty="0"/>
              <a:t>Exercise 1: </a:t>
            </a:r>
            <a:r>
              <a:rPr lang="en-US" dirty="0"/>
              <a:t>could this be a composition relationship? Why or why not? (If yes, draw it in)</a:t>
            </a:r>
            <a:endParaRPr lang="en-CA" dirty="0"/>
          </a:p>
        </p:txBody>
      </p:sp>
      <p:pic>
        <p:nvPicPr>
          <p:cNvPr id="4" name="Picture 3">
            <a:extLst>
              <a:ext uri="{FF2B5EF4-FFF2-40B4-BE49-F238E27FC236}">
                <a16:creationId xmlns:a16="http://schemas.microsoft.com/office/drawing/2014/main" id="{B833AD62-146A-46B8-802A-8BF40FAF44A3}"/>
              </a:ext>
            </a:extLst>
          </p:cNvPr>
          <p:cNvPicPr/>
          <p:nvPr/>
        </p:nvPicPr>
        <p:blipFill>
          <a:blip r:embed="rId2"/>
          <a:srcRect/>
          <a:stretch>
            <a:fillRect/>
          </a:stretch>
        </p:blipFill>
        <p:spPr bwMode="auto">
          <a:xfrm>
            <a:off x="1014094" y="3165156"/>
            <a:ext cx="9653906" cy="2900363"/>
          </a:xfrm>
          <a:prstGeom prst="rect">
            <a:avLst/>
          </a:prstGeom>
          <a:noFill/>
          <a:ln w="9525">
            <a:noFill/>
            <a:miter lim="800000"/>
            <a:headEnd/>
            <a:tailEnd/>
          </a:ln>
        </p:spPr>
      </p:pic>
    </p:spTree>
    <p:extLst>
      <p:ext uri="{BB962C8B-B14F-4D97-AF65-F5344CB8AC3E}">
        <p14:creationId xmlns:p14="http://schemas.microsoft.com/office/powerpoint/2010/main" val="2766420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D32F1-247B-4D5D-B9BE-0F31FD430AF0}"/>
              </a:ext>
            </a:extLst>
          </p:cNvPr>
          <p:cNvSpPr>
            <a:spLocks noGrp="1"/>
          </p:cNvSpPr>
          <p:nvPr>
            <p:ph type="title"/>
          </p:nvPr>
        </p:nvSpPr>
        <p:spPr/>
        <p:txBody>
          <a:bodyPr>
            <a:normAutofit fontScale="90000"/>
          </a:bodyPr>
          <a:lstStyle/>
          <a:p>
            <a:r>
              <a:rPr lang="en-US" b="1" dirty="0"/>
              <a:t>Exercise 2: </a:t>
            </a:r>
            <a:r>
              <a:rPr lang="en-US" dirty="0"/>
              <a:t>could this be a composition relationship? Why or why not? (If yes, draw it in)</a:t>
            </a:r>
            <a:endParaRPr lang="en-CA" dirty="0"/>
          </a:p>
        </p:txBody>
      </p:sp>
      <p:pic>
        <p:nvPicPr>
          <p:cNvPr id="4" name="Picture 3"/>
          <p:cNvPicPr>
            <a:picLocks noChangeAspect="1"/>
          </p:cNvPicPr>
          <p:nvPr/>
        </p:nvPicPr>
        <p:blipFill>
          <a:blip r:embed="rId2"/>
          <a:stretch>
            <a:fillRect/>
          </a:stretch>
        </p:blipFill>
        <p:spPr>
          <a:xfrm>
            <a:off x="2080362" y="3178753"/>
            <a:ext cx="7407838" cy="1538720"/>
          </a:xfrm>
          <a:prstGeom prst="rect">
            <a:avLst/>
          </a:prstGeom>
        </p:spPr>
      </p:pic>
    </p:spTree>
    <p:extLst>
      <p:ext uri="{BB962C8B-B14F-4D97-AF65-F5344CB8AC3E}">
        <p14:creationId xmlns:p14="http://schemas.microsoft.com/office/powerpoint/2010/main" val="2842551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D32F1-247B-4D5D-B9BE-0F31FD430AF0}"/>
              </a:ext>
            </a:extLst>
          </p:cNvPr>
          <p:cNvSpPr>
            <a:spLocks noGrp="1"/>
          </p:cNvSpPr>
          <p:nvPr>
            <p:ph type="title"/>
          </p:nvPr>
        </p:nvSpPr>
        <p:spPr/>
        <p:txBody>
          <a:bodyPr>
            <a:normAutofit fontScale="90000"/>
          </a:bodyPr>
          <a:lstStyle/>
          <a:p>
            <a:r>
              <a:rPr lang="en-US" b="1" dirty="0"/>
              <a:t>Exercise 3: </a:t>
            </a:r>
            <a:r>
              <a:rPr lang="en-US" dirty="0"/>
              <a:t>could this be a composition relationship? Why or why not? (If yes, draw it in)</a:t>
            </a:r>
            <a:endParaRPr lang="en-CA" dirty="0"/>
          </a:p>
        </p:txBody>
      </p:sp>
      <p:pic>
        <p:nvPicPr>
          <p:cNvPr id="3" name="Picture 2"/>
          <p:cNvPicPr>
            <a:picLocks noChangeAspect="1"/>
          </p:cNvPicPr>
          <p:nvPr/>
        </p:nvPicPr>
        <p:blipFill>
          <a:blip r:embed="rId2"/>
          <a:stretch>
            <a:fillRect/>
          </a:stretch>
        </p:blipFill>
        <p:spPr>
          <a:xfrm>
            <a:off x="2136006" y="3100387"/>
            <a:ext cx="7066765" cy="1409268"/>
          </a:xfrm>
          <a:prstGeom prst="rect">
            <a:avLst/>
          </a:prstGeom>
        </p:spPr>
      </p:pic>
    </p:spTree>
    <p:extLst>
      <p:ext uri="{BB962C8B-B14F-4D97-AF65-F5344CB8AC3E}">
        <p14:creationId xmlns:p14="http://schemas.microsoft.com/office/powerpoint/2010/main" val="93835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principles of composition</a:t>
            </a:r>
            <a:endParaRPr lang="en-CA"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CA" dirty="0"/>
              <a:t>Where the 'parent'/container class goes, so goes the 'child'/contained class.  If parent deleted, child deleted.</a:t>
            </a:r>
            <a:br>
              <a:rPr lang="en-CA" dirty="0"/>
            </a:br>
            <a:endParaRPr lang="en-CA" dirty="0"/>
          </a:p>
          <a:p>
            <a:pPr marL="514350" indent="-514350">
              <a:buFont typeface="+mj-lt"/>
              <a:buAutoNum type="arabicPeriod"/>
            </a:pPr>
            <a:r>
              <a:rPr lang="en-CA" dirty="0"/>
              <a:t>The contained class can only be accessed 'through' the container.  If the child/contained class can be accessed on it's own, it is NOT composition.</a:t>
            </a:r>
          </a:p>
          <a:p>
            <a:pPr marL="0" indent="0">
              <a:buNone/>
            </a:pPr>
            <a:endParaRPr lang="en-CA" dirty="0"/>
          </a:p>
          <a:p>
            <a:pPr marL="0" indent="0">
              <a:buNone/>
            </a:pPr>
            <a:r>
              <a:rPr lang="en-CA" dirty="0"/>
              <a:t>When in doubt, leave it out.</a:t>
            </a:r>
          </a:p>
          <a:p>
            <a:endParaRPr lang="en-CA" dirty="0"/>
          </a:p>
        </p:txBody>
      </p:sp>
    </p:spTree>
    <p:extLst>
      <p:ext uri="{BB962C8B-B14F-4D97-AF65-F5344CB8AC3E}">
        <p14:creationId xmlns:p14="http://schemas.microsoft.com/office/powerpoint/2010/main" val="2026657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7607-7262-4915-A099-4D303341135E}"/>
              </a:ext>
            </a:extLst>
          </p:cNvPr>
          <p:cNvSpPr>
            <a:spLocks noGrp="1"/>
          </p:cNvSpPr>
          <p:nvPr>
            <p:ph type="title"/>
          </p:nvPr>
        </p:nvSpPr>
        <p:spPr/>
        <p:txBody>
          <a:bodyPr/>
          <a:lstStyle/>
          <a:p>
            <a:r>
              <a:rPr lang="en-US" dirty="0"/>
              <a:t>Generalization</a:t>
            </a:r>
            <a:endParaRPr lang="en-CA" dirty="0"/>
          </a:p>
        </p:txBody>
      </p:sp>
      <p:pic>
        <p:nvPicPr>
          <p:cNvPr id="6" name="Picture 5">
            <a:extLst>
              <a:ext uri="{FF2B5EF4-FFF2-40B4-BE49-F238E27FC236}">
                <a16:creationId xmlns:a16="http://schemas.microsoft.com/office/drawing/2014/main" id="{0E8178D0-74CD-45EE-973C-550E5AC08EA5}"/>
              </a:ext>
            </a:extLst>
          </p:cNvPr>
          <p:cNvPicPr>
            <a:picLocks noChangeAspect="1"/>
          </p:cNvPicPr>
          <p:nvPr/>
        </p:nvPicPr>
        <p:blipFill>
          <a:blip r:embed="rId2"/>
          <a:stretch>
            <a:fillRect/>
          </a:stretch>
        </p:blipFill>
        <p:spPr>
          <a:xfrm>
            <a:off x="6089650" y="1709738"/>
            <a:ext cx="5546725" cy="4564851"/>
          </a:xfrm>
          <a:prstGeom prst="rect">
            <a:avLst/>
          </a:prstGeom>
        </p:spPr>
      </p:pic>
    </p:spTree>
    <p:extLst>
      <p:ext uri="{BB962C8B-B14F-4D97-AF65-F5344CB8AC3E}">
        <p14:creationId xmlns:p14="http://schemas.microsoft.com/office/powerpoint/2010/main" val="3932317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62CCEA-1AF7-4D7D-B769-90876A7F89F4}"/>
              </a:ext>
            </a:extLst>
          </p:cNvPr>
          <p:cNvSpPr>
            <a:spLocks noGrp="1"/>
          </p:cNvSpPr>
          <p:nvPr>
            <p:ph type="title"/>
          </p:nvPr>
        </p:nvSpPr>
        <p:spPr/>
        <p:txBody>
          <a:bodyPr/>
          <a:lstStyle/>
          <a:p>
            <a:r>
              <a:rPr lang="en-US" dirty="0"/>
              <a:t>Generalization in a Domain Model</a:t>
            </a:r>
            <a:endParaRPr lang="en-CA" dirty="0"/>
          </a:p>
        </p:txBody>
      </p:sp>
      <p:sp>
        <p:nvSpPr>
          <p:cNvPr id="5" name="Content Placeholder 4">
            <a:extLst>
              <a:ext uri="{FF2B5EF4-FFF2-40B4-BE49-F238E27FC236}">
                <a16:creationId xmlns:a16="http://schemas.microsoft.com/office/drawing/2014/main" id="{844CDCAE-644B-4CEA-9357-9D4792FEA40C}"/>
              </a:ext>
            </a:extLst>
          </p:cNvPr>
          <p:cNvSpPr>
            <a:spLocks noGrp="1"/>
          </p:cNvSpPr>
          <p:nvPr>
            <p:ph idx="1"/>
          </p:nvPr>
        </p:nvSpPr>
        <p:spPr/>
        <p:txBody>
          <a:bodyPr/>
          <a:lstStyle/>
          <a:p>
            <a:pPr lvl="0"/>
            <a:r>
              <a:rPr lang="en-CA" dirty="0"/>
              <a:t>A relationship in which specialized sub classes are derived from a generalized super class. </a:t>
            </a:r>
          </a:p>
          <a:p>
            <a:pPr lvl="0"/>
            <a:r>
              <a:rPr lang="en-CA" dirty="0"/>
              <a:t>The super class defines everything that is similar (general), while each sub class defines what is specific to itself. </a:t>
            </a:r>
          </a:p>
          <a:p>
            <a:pPr lvl="0"/>
            <a:r>
              <a:rPr lang="en-CA" dirty="0"/>
              <a:t>The generalization/specialization relationship is typically implemented in object oriented technology via the inheritance relationship—but since we are in the domain model our classes are concepts not implementable artifacts so the constructs we are modeling are not (yet) inheritance.</a:t>
            </a:r>
          </a:p>
          <a:p>
            <a:endParaRPr lang="en-CA" dirty="0"/>
          </a:p>
        </p:txBody>
      </p:sp>
    </p:spTree>
    <p:extLst>
      <p:ext uri="{BB962C8B-B14F-4D97-AF65-F5344CB8AC3E}">
        <p14:creationId xmlns:p14="http://schemas.microsoft.com/office/powerpoint/2010/main" val="96340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1F058-CD30-459B-831B-99AB4D781AAA}"/>
              </a:ext>
            </a:extLst>
          </p:cNvPr>
          <p:cNvSpPr>
            <a:spLocks noGrp="1"/>
          </p:cNvSpPr>
          <p:nvPr>
            <p:ph type="title"/>
          </p:nvPr>
        </p:nvSpPr>
        <p:spPr/>
        <p:txBody>
          <a:bodyPr/>
          <a:lstStyle/>
          <a:p>
            <a:r>
              <a:rPr lang="en-US" dirty="0"/>
              <a:t>Characteristics of a Domain Model</a:t>
            </a:r>
            <a:endParaRPr lang="en-CA" dirty="0"/>
          </a:p>
        </p:txBody>
      </p:sp>
      <p:sp>
        <p:nvSpPr>
          <p:cNvPr id="3" name="Content Placeholder 2">
            <a:extLst>
              <a:ext uri="{FF2B5EF4-FFF2-40B4-BE49-F238E27FC236}">
                <a16:creationId xmlns:a16="http://schemas.microsoft.com/office/drawing/2014/main" id="{275582D9-4722-4404-BBD6-A89646DF39D8}"/>
              </a:ext>
            </a:extLst>
          </p:cNvPr>
          <p:cNvSpPr>
            <a:spLocks noGrp="1"/>
          </p:cNvSpPr>
          <p:nvPr>
            <p:ph idx="1"/>
          </p:nvPr>
        </p:nvSpPr>
        <p:spPr/>
        <p:txBody>
          <a:bodyPr/>
          <a:lstStyle/>
          <a:p>
            <a:pPr lvl="0"/>
            <a:r>
              <a:rPr lang="en-CA" dirty="0"/>
              <a:t>Each specialization “is a” variation of the generalization. </a:t>
            </a:r>
          </a:p>
          <a:p>
            <a:pPr lvl="0"/>
            <a:r>
              <a:rPr lang="en-CA" dirty="0"/>
              <a:t>For example if we say Vehicle is the generalization and </a:t>
            </a:r>
            <a:r>
              <a:rPr lang="en-CA" dirty="0" err="1"/>
              <a:t>PassengerVehicle</a:t>
            </a:r>
            <a:r>
              <a:rPr lang="en-CA" dirty="0"/>
              <a:t> and </a:t>
            </a:r>
            <a:r>
              <a:rPr lang="en-CA" dirty="0" err="1"/>
              <a:t>CommercialVehicle</a:t>
            </a:r>
            <a:r>
              <a:rPr lang="en-CA" dirty="0"/>
              <a:t> are specializations we have: </a:t>
            </a:r>
          </a:p>
          <a:p>
            <a:pPr lvl="1"/>
            <a:r>
              <a:rPr lang="en-CA" dirty="0" err="1"/>
              <a:t>PassengerVehicle</a:t>
            </a:r>
            <a:r>
              <a:rPr lang="en-CA" dirty="0"/>
              <a:t> “is a” Vehicle; </a:t>
            </a:r>
            <a:r>
              <a:rPr lang="en-CA" dirty="0" err="1"/>
              <a:t>CommercialVehicle</a:t>
            </a:r>
            <a:r>
              <a:rPr lang="en-CA" dirty="0"/>
              <a:t> “is a” Vehicle. All specializations are in a “is a” relationship with the generalization.</a:t>
            </a:r>
          </a:p>
          <a:p>
            <a:pPr lvl="0"/>
            <a:r>
              <a:rPr lang="en-CA" dirty="0"/>
              <a:t>Each sub class carries all of the attributes and associations of the super class. </a:t>
            </a:r>
          </a:p>
          <a:p>
            <a:endParaRPr lang="en-CA" dirty="0"/>
          </a:p>
        </p:txBody>
      </p:sp>
    </p:spTree>
    <p:extLst>
      <p:ext uri="{BB962C8B-B14F-4D97-AF65-F5344CB8AC3E}">
        <p14:creationId xmlns:p14="http://schemas.microsoft.com/office/powerpoint/2010/main" val="881289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5C253-71CF-4960-AB87-7FF972FAF408}"/>
              </a:ext>
            </a:extLst>
          </p:cNvPr>
          <p:cNvSpPr>
            <a:spLocks noGrp="1"/>
          </p:cNvSpPr>
          <p:nvPr>
            <p:ph type="title"/>
          </p:nvPr>
        </p:nvSpPr>
        <p:spPr/>
        <p:txBody>
          <a:bodyPr/>
          <a:lstStyle/>
          <a:p>
            <a:r>
              <a:rPr lang="en-US" dirty="0"/>
              <a:t>When to use a Generalization Relationship</a:t>
            </a:r>
            <a:endParaRPr lang="en-CA" dirty="0"/>
          </a:p>
        </p:txBody>
      </p:sp>
      <p:sp>
        <p:nvSpPr>
          <p:cNvPr id="3" name="Content Placeholder 2">
            <a:extLst>
              <a:ext uri="{FF2B5EF4-FFF2-40B4-BE49-F238E27FC236}">
                <a16:creationId xmlns:a16="http://schemas.microsoft.com/office/drawing/2014/main" id="{4E8DBC7C-FB39-4CD1-BF41-2F53775B6755}"/>
              </a:ext>
            </a:extLst>
          </p:cNvPr>
          <p:cNvSpPr>
            <a:spLocks noGrp="1"/>
          </p:cNvSpPr>
          <p:nvPr>
            <p:ph idx="1"/>
          </p:nvPr>
        </p:nvSpPr>
        <p:spPr/>
        <p:txBody>
          <a:bodyPr/>
          <a:lstStyle/>
          <a:p>
            <a:pPr lvl="0"/>
            <a:r>
              <a:rPr lang="en-CA" dirty="0"/>
              <a:t>Potential sub classes are in a “is a” relationship with the super class</a:t>
            </a:r>
          </a:p>
          <a:p>
            <a:pPr lvl="0"/>
            <a:r>
              <a:rPr lang="en-CA" dirty="0"/>
              <a:t>Potential sub classes share an attribute and/or association that can be generalized to a super class</a:t>
            </a:r>
          </a:p>
          <a:p>
            <a:pPr lvl="0"/>
            <a:r>
              <a:rPr lang="en-US" dirty="0"/>
              <a:t>R</a:t>
            </a:r>
            <a:r>
              <a:rPr lang="en-CA" dirty="0"/>
              <a:t>educe repetition of information</a:t>
            </a:r>
          </a:p>
          <a:p>
            <a:endParaRPr lang="en-CA" dirty="0"/>
          </a:p>
        </p:txBody>
      </p:sp>
    </p:spTree>
    <p:extLst>
      <p:ext uri="{BB962C8B-B14F-4D97-AF65-F5344CB8AC3E}">
        <p14:creationId xmlns:p14="http://schemas.microsoft.com/office/powerpoint/2010/main" val="1954593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 name="ProductClassDiagram.jpg"/>
          <p:cNvPicPr>
            <a:picLocks noGrp="1" noChangeAspect="1"/>
          </p:cNvPicPr>
          <p:nvPr>
            <p:ph type="pic" idx="13"/>
          </p:nvPr>
        </p:nvPicPr>
        <p:blipFill>
          <a:blip r:embed="rId2"/>
          <a:srcRect/>
          <a:stretch>
            <a:fillRect/>
          </a:stretch>
        </p:blipFill>
        <p:spPr>
          <a:xfrm>
            <a:off x="6247805" y="2441060"/>
            <a:ext cx="3750469" cy="3199248"/>
          </a:xfrm>
          <a:prstGeom prst="rect">
            <a:avLst/>
          </a:prstGeom>
        </p:spPr>
      </p:pic>
      <p:sp>
        <p:nvSpPr>
          <p:cNvPr id="193" name="Shape 193"/>
          <p:cNvSpPr>
            <a:spLocks noGrp="1"/>
          </p:cNvSpPr>
          <p:nvPr>
            <p:ph type="title"/>
          </p:nvPr>
        </p:nvSpPr>
        <p:spPr>
          <a:prstGeom prst="rect">
            <a:avLst/>
          </a:prstGeom>
        </p:spPr>
        <p:txBody>
          <a:bodyPr/>
          <a:lstStyle/>
          <a:p>
            <a:r>
              <a:t>Generalization</a:t>
            </a:r>
          </a:p>
        </p:txBody>
      </p:sp>
      <p:sp>
        <p:nvSpPr>
          <p:cNvPr id="194" name="Shape 194"/>
          <p:cNvSpPr>
            <a:spLocks noGrp="1"/>
          </p:cNvSpPr>
          <p:nvPr>
            <p:ph type="body" sz="half" idx="1"/>
          </p:nvPr>
        </p:nvSpPr>
        <p:spPr>
          <a:prstGeom prst="rect">
            <a:avLst/>
          </a:prstGeom>
        </p:spPr>
        <p:txBody>
          <a:bodyPr>
            <a:normAutofit fontScale="92500"/>
          </a:bodyPr>
          <a:lstStyle/>
          <a:p>
            <a:pPr marL="231449" indent="-231449" defTabSz="394320">
              <a:spcBef>
                <a:spcPts val="2109"/>
              </a:spcBef>
              <a:defRPr sz="2688"/>
            </a:pPr>
            <a:r>
              <a:t>when multiple classes share certain properties, they may be “grouped” into a conceptual hierarchy</a:t>
            </a:r>
          </a:p>
          <a:p>
            <a:pPr marL="231449" indent="-231449" defTabSz="394320">
              <a:spcBef>
                <a:spcPts val="2109"/>
              </a:spcBef>
              <a:defRPr sz="2688"/>
            </a:pPr>
            <a:r>
              <a:t> a superclass represents the general concept</a:t>
            </a:r>
          </a:p>
          <a:p>
            <a:pPr marL="231449" indent="-231449" defTabSz="394320">
              <a:spcBef>
                <a:spcPts val="2109"/>
              </a:spcBef>
              <a:defRPr sz="2688"/>
            </a:pPr>
            <a:r>
              <a:t>subclasses represent </a:t>
            </a:r>
            <a:r>
              <a:rPr u="sng"/>
              <a:t>specializations</a:t>
            </a:r>
            <a:r>
              <a:t> of the superclass</a:t>
            </a:r>
          </a:p>
          <a:p>
            <a:pPr marL="231449" indent="-231449" defTabSz="394320">
              <a:spcBef>
                <a:spcPts val="2109"/>
              </a:spcBef>
              <a:defRPr sz="2688"/>
            </a:pPr>
            <a:r>
              <a:t>the superclass is deemed to be </a:t>
            </a:r>
            <a:r>
              <a:rPr u="sng"/>
              <a:t>abstract</a:t>
            </a:r>
            <a:r>
              <a:t>, if it can not be created in your conceptual model</a:t>
            </a:r>
          </a:p>
        </p:txBody>
      </p:sp>
    </p:spTree>
    <p:extLst>
      <p:ext uri="{BB962C8B-B14F-4D97-AF65-F5344CB8AC3E}">
        <p14:creationId xmlns:p14="http://schemas.microsoft.com/office/powerpoint/2010/main" val="4195601906"/>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Shape 196"/>
          <p:cNvSpPr>
            <a:spLocks noGrp="1"/>
          </p:cNvSpPr>
          <p:nvPr>
            <p:ph type="title"/>
          </p:nvPr>
        </p:nvSpPr>
        <p:spPr>
          <a:prstGeom prst="rect">
            <a:avLst/>
          </a:prstGeom>
        </p:spPr>
        <p:txBody>
          <a:bodyPr>
            <a:normAutofit/>
          </a:bodyPr>
          <a:lstStyle>
            <a:lvl1pPr defTabSz="560831">
              <a:defRPr sz="7679"/>
            </a:lvl1pPr>
          </a:lstStyle>
          <a:p>
            <a:r>
              <a:rPr sz="4400" dirty="0"/>
              <a:t>Example: Bank Accounts</a:t>
            </a:r>
          </a:p>
        </p:txBody>
      </p:sp>
      <p:sp>
        <p:nvSpPr>
          <p:cNvPr id="197" name="Shape 197"/>
          <p:cNvSpPr/>
          <p:nvPr/>
        </p:nvSpPr>
        <p:spPr>
          <a:xfrm>
            <a:off x="2400086" y="2213996"/>
            <a:ext cx="3078151" cy="407612"/>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3100"/>
            </a:lvl1pPr>
          </a:lstStyle>
          <a:p>
            <a:r>
              <a:rPr sz="2180"/>
              <a:t>Interest Chequing Account</a:t>
            </a:r>
          </a:p>
        </p:txBody>
      </p:sp>
      <p:sp>
        <p:nvSpPr>
          <p:cNvPr id="198" name="Shape 198"/>
          <p:cNvSpPr/>
          <p:nvPr/>
        </p:nvSpPr>
        <p:spPr>
          <a:xfrm>
            <a:off x="5598361" y="2799208"/>
            <a:ext cx="4560096" cy="5157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4100"/>
            </a:lvl1pPr>
          </a:lstStyle>
          <a:p>
            <a:r>
              <a:rPr sz="2883"/>
              <a:t>No Interest Chequing Account</a:t>
            </a:r>
          </a:p>
        </p:txBody>
      </p:sp>
      <p:sp>
        <p:nvSpPr>
          <p:cNvPr id="199" name="Shape 199"/>
          <p:cNvSpPr/>
          <p:nvPr/>
        </p:nvSpPr>
        <p:spPr>
          <a:xfrm>
            <a:off x="1968050" y="4371256"/>
            <a:ext cx="3972434" cy="494111"/>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3900"/>
            </a:lvl1pPr>
          </a:lstStyle>
          <a:p>
            <a:r>
              <a:rPr sz="2742"/>
              <a:t>Business Chequing Account</a:t>
            </a:r>
          </a:p>
        </p:txBody>
      </p:sp>
      <p:sp>
        <p:nvSpPr>
          <p:cNvPr id="200" name="Shape 200"/>
          <p:cNvSpPr/>
          <p:nvPr/>
        </p:nvSpPr>
        <p:spPr>
          <a:xfrm>
            <a:off x="4013521" y="5063738"/>
            <a:ext cx="5103257" cy="753861"/>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a:defRPr sz="5200"/>
            </a:pPr>
            <a:r>
              <a:rPr sz="3656"/>
              <a:t>Tax Free </a:t>
            </a:r>
            <a:r>
              <a:rPr sz="4430"/>
              <a:t>Savings</a:t>
            </a:r>
            <a:r>
              <a:rPr sz="3656"/>
              <a:t> Account</a:t>
            </a:r>
          </a:p>
        </p:txBody>
      </p:sp>
      <p:sp>
        <p:nvSpPr>
          <p:cNvPr id="201" name="Shape 201"/>
          <p:cNvSpPr/>
          <p:nvPr/>
        </p:nvSpPr>
        <p:spPr>
          <a:xfrm>
            <a:off x="5438413" y="3665454"/>
            <a:ext cx="2930739" cy="353431"/>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600" i="1">
                <a:latin typeface="Helvetica"/>
                <a:ea typeface="Helvetica"/>
                <a:cs typeface="Helvetica"/>
                <a:sym typeface="Helvetica"/>
              </a:defRPr>
            </a:lvl1pPr>
          </a:lstStyle>
          <a:p>
            <a:r>
              <a:rPr sz="1828"/>
              <a:t>High Yield Savings Account</a:t>
            </a:r>
          </a:p>
        </p:txBody>
      </p:sp>
      <p:sp>
        <p:nvSpPr>
          <p:cNvPr id="202" name="Shape 202"/>
          <p:cNvSpPr/>
          <p:nvPr/>
        </p:nvSpPr>
        <p:spPr>
          <a:xfrm>
            <a:off x="2427169" y="6164381"/>
            <a:ext cx="2422138" cy="320986"/>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300" b="1">
                <a:latin typeface="Helvetica"/>
                <a:ea typeface="Helvetica"/>
                <a:cs typeface="Helvetica"/>
                <a:sym typeface="Helvetica"/>
              </a:defRPr>
            </a:lvl1pPr>
          </a:lstStyle>
          <a:p>
            <a:r>
              <a:rPr sz="1617"/>
              <a:t>Bonus Savings account</a:t>
            </a:r>
          </a:p>
        </p:txBody>
      </p:sp>
    </p:spTree>
    <p:extLst>
      <p:ext uri="{BB962C8B-B14F-4D97-AF65-F5344CB8AC3E}">
        <p14:creationId xmlns:p14="http://schemas.microsoft.com/office/powerpoint/2010/main" val="332232666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Shape 204"/>
          <p:cNvSpPr>
            <a:spLocks noGrp="1"/>
          </p:cNvSpPr>
          <p:nvPr>
            <p:ph type="title"/>
          </p:nvPr>
        </p:nvSpPr>
        <p:spPr>
          <a:prstGeom prst="rect">
            <a:avLst/>
          </a:prstGeom>
        </p:spPr>
        <p:txBody>
          <a:bodyPr/>
          <a:lstStyle/>
          <a:p>
            <a:r>
              <a:t>Potential Class Diagram</a:t>
            </a:r>
          </a:p>
        </p:txBody>
      </p:sp>
      <p:pic>
        <p:nvPicPr>
          <p:cNvPr id="205" name="pasted-image.pdf"/>
          <p:cNvPicPr>
            <a:picLocks noChangeAspect="1"/>
          </p:cNvPicPr>
          <p:nvPr/>
        </p:nvPicPr>
        <p:blipFill>
          <a:blip r:embed="rId3"/>
          <a:stretch>
            <a:fillRect/>
          </a:stretch>
        </p:blipFill>
        <p:spPr>
          <a:xfrm>
            <a:off x="3175231" y="1769054"/>
            <a:ext cx="6092662" cy="4747885"/>
          </a:xfrm>
          <a:prstGeom prst="rect">
            <a:avLst/>
          </a:prstGeom>
          <a:ln w="12700">
            <a:miter lim="400000"/>
          </a:ln>
        </p:spPr>
      </p:pic>
      <p:sp>
        <p:nvSpPr>
          <p:cNvPr id="206" name="Shape 206"/>
          <p:cNvSpPr/>
          <p:nvPr/>
        </p:nvSpPr>
        <p:spPr>
          <a:xfrm>
            <a:off x="3336727" y="2529194"/>
            <a:ext cx="2770645" cy="483599"/>
          </a:xfrm>
          <a:prstGeom prst="rect">
            <a:avLst/>
          </a:prstGeom>
          <a:ln w="101600">
            <a:solidFill>
              <a:schemeClr val="accent5"/>
            </a:solidFill>
            <a:miter lim="400000"/>
          </a:ln>
          <a:effectLst>
            <a:outerShdw blurRad="38100" dist="25400" dir="5400000" rotWithShape="0">
              <a:srgbClr val="000000">
                <a:alpha val="50000"/>
              </a:srgbClr>
            </a:outerShdw>
          </a:effectLst>
        </p:spPr>
        <p:txBody>
          <a:bodyPr lIns="35719" tIns="35719" rIns="35719" bIns="35719" anchor="ctr"/>
          <a:lstStyle/>
          <a:p>
            <a:pPr>
              <a:defRPr sz="2400">
                <a:solidFill>
                  <a:srgbClr val="FFFFFF"/>
                </a:solidFill>
              </a:defRPr>
            </a:pPr>
            <a:endParaRPr sz="1687"/>
          </a:p>
        </p:txBody>
      </p:sp>
      <p:sp>
        <p:nvSpPr>
          <p:cNvPr id="207" name="Shape 207"/>
          <p:cNvSpPr/>
          <p:nvPr/>
        </p:nvSpPr>
        <p:spPr>
          <a:xfrm>
            <a:off x="6283524" y="2529194"/>
            <a:ext cx="2770645" cy="483599"/>
          </a:xfrm>
          <a:prstGeom prst="rect">
            <a:avLst/>
          </a:prstGeom>
          <a:ln w="101600">
            <a:solidFill>
              <a:schemeClr val="accent5"/>
            </a:solidFill>
            <a:miter lim="400000"/>
          </a:ln>
          <a:effectLst>
            <a:outerShdw blurRad="38100" dist="25400" dir="5400000" rotWithShape="0">
              <a:srgbClr val="000000">
                <a:alpha val="50000"/>
              </a:srgbClr>
            </a:outerShdw>
          </a:effectLst>
        </p:spPr>
        <p:txBody>
          <a:bodyPr lIns="35719" tIns="35719" rIns="35719" bIns="35719" anchor="ctr"/>
          <a:lstStyle/>
          <a:p>
            <a:pPr>
              <a:defRPr sz="2400">
                <a:solidFill>
                  <a:srgbClr val="FFFFFF"/>
                </a:solidFill>
              </a:defRPr>
            </a:pPr>
            <a:endParaRPr sz="1687"/>
          </a:p>
        </p:txBody>
      </p:sp>
      <p:sp>
        <p:nvSpPr>
          <p:cNvPr id="208" name="Shape 208"/>
          <p:cNvSpPr/>
          <p:nvPr/>
        </p:nvSpPr>
        <p:spPr>
          <a:xfrm>
            <a:off x="3336727" y="4511585"/>
            <a:ext cx="2770645" cy="483599"/>
          </a:xfrm>
          <a:prstGeom prst="rect">
            <a:avLst/>
          </a:prstGeom>
          <a:ln w="101600">
            <a:solidFill>
              <a:schemeClr val="accent5"/>
            </a:solidFill>
            <a:miter lim="400000"/>
          </a:ln>
          <a:effectLst>
            <a:outerShdw blurRad="38100" dist="25400" dir="5400000" rotWithShape="0">
              <a:srgbClr val="000000">
                <a:alpha val="50000"/>
              </a:srgbClr>
            </a:outerShdw>
          </a:effectLst>
        </p:spPr>
        <p:txBody>
          <a:bodyPr lIns="35719" tIns="35719" rIns="35719" bIns="35719" anchor="ctr"/>
          <a:lstStyle/>
          <a:p>
            <a:pPr>
              <a:defRPr sz="2400">
                <a:solidFill>
                  <a:srgbClr val="FFFFFF"/>
                </a:solidFill>
              </a:defRPr>
            </a:pPr>
            <a:endParaRPr sz="1687"/>
          </a:p>
        </p:txBody>
      </p:sp>
      <p:sp>
        <p:nvSpPr>
          <p:cNvPr id="209" name="Shape 209"/>
          <p:cNvSpPr/>
          <p:nvPr/>
        </p:nvSpPr>
        <p:spPr>
          <a:xfrm>
            <a:off x="6283524" y="4511585"/>
            <a:ext cx="2770645" cy="483599"/>
          </a:xfrm>
          <a:prstGeom prst="rect">
            <a:avLst/>
          </a:prstGeom>
          <a:ln w="101600">
            <a:solidFill>
              <a:schemeClr val="accent5"/>
            </a:solidFill>
            <a:miter lim="400000"/>
          </a:ln>
          <a:effectLst>
            <a:outerShdw blurRad="38100" dist="25400" dir="5400000" rotWithShape="0">
              <a:srgbClr val="000000">
                <a:alpha val="50000"/>
              </a:srgbClr>
            </a:outerShdw>
          </a:effectLst>
        </p:spPr>
        <p:txBody>
          <a:bodyPr lIns="35719" tIns="35719" rIns="35719" bIns="35719" anchor="ctr"/>
          <a:lstStyle/>
          <a:p>
            <a:pPr>
              <a:defRPr sz="2400">
                <a:solidFill>
                  <a:srgbClr val="FFFFFF"/>
                </a:solidFill>
              </a:defRPr>
            </a:pPr>
            <a:endParaRPr sz="1687"/>
          </a:p>
        </p:txBody>
      </p:sp>
      <p:sp>
        <p:nvSpPr>
          <p:cNvPr id="13" name="Shape 223">
            <a:extLst>
              <a:ext uri="{FF2B5EF4-FFF2-40B4-BE49-F238E27FC236}">
                <a16:creationId xmlns:a16="http://schemas.microsoft.com/office/drawing/2014/main" id="{8E7BE407-97B8-46B6-91A3-233A9491B869}"/>
              </a:ext>
            </a:extLst>
          </p:cNvPr>
          <p:cNvSpPr/>
          <p:nvPr/>
        </p:nvSpPr>
        <p:spPr>
          <a:xfrm>
            <a:off x="838200" y="3100764"/>
            <a:ext cx="1480724" cy="892969"/>
          </a:xfrm>
          <a:prstGeom prst="rect">
            <a:avLst/>
          </a:prstGeom>
          <a:gradFill>
            <a:gsLst>
              <a:gs pos="0">
                <a:srgbClr val="FBFBFB"/>
              </a:gs>
              <a:gs pos="100000">
                <a:srgbClr val="BEBEBE"/>
              </a:gs>
            </a:gsLst>
            <a:lin ang="5400000"/>
          </a:gradFill>
          <a:ln w="12700">
            <a:miter lim="400000"/>
          </a:ln>
          <a:effectLst>
            <a:outerShdw blurRad="38100" dist="25400" dir="5400000" rotWithShape="0">
              <a:srgbClr val="000000">
                <a:alpha val="50000"/>
              </a:srgbClr>
            </a:outerShdw>
          </a:effectLst>
          <a:extLst>
            <a:ext uri="{C572A759-6A51-4108-AA02-DFA0A04FC94B}">
              <ma14:wrappingTextBoxFlag xmlns="" xmlns:ma14="http://schemas.microsoft.com/office/mac/drawingml/2011/main" val="1"/>
            </a:ext>
          </a:extLst>
        </p:spPr>
        <p:txBody>
          <a:bodyPr lIns="35719" tIns="35719" rIns="35719" bIns="35719" anchor="ctr"/>
          <a:lstStyle>
            <a:lvl1pPr>
              <a:defRPr sz="2400">
                <a:latin typeface="Chalkboard"/>
                <a:ea typeface="Chalkboard"/>
                <a:cs typeface="Chalkboard"/>
                <a:sym typeface="Chalkboard"/>
              </a:defRPr>
            </a:lvl1pPr>
          </a:lstStyle>
          <a:p>
            <a:r>
              <a:rPr lang="en-US" sz="1687" dirty="0"/>
              <a:t>Common Attributes</a:t>
            </a:r>
            <a:endParaRPr sz="1687" dirty="0"/>
          </a:p>
        </p:txBody>
      </p:sp>
      <p:sp>
        <p:nvSpPr>
          <p:cNvPr id="2" name="Rectangle 1">
            <a:extLst>
              <a:ext uri="{FF2B5EF4-FFF2-40B4-BE49-F238E27FC236}">
                <a16:creationId xmlns:a16="http://schemas.microsoft.com/office/drawing/2014/main" id="{A29B9216-CACD-4FE8-B43B-34FA819FF6F4}"/>
              </a:ext>
            </a:extLst>
          </p:cNvPr>
          <p:cNvSpPr/>
          <p:nvPr/>
        </p:nvSpPr>
        <p:spPr>
          <a:xfrm>
            <a:off x="6206068" y="3993733"/>
            <a:ext cx="2971800" cy="23901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958339325"/>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 name="pasted-image.pdf"/>
          <p:cNvPicPr>
            <a:picLocks noGrp="1" noChangeAspect="1"/>
          </p:cNvPicPr>
          <p:nvPr>
            <p:ph type="pic" idx="13"/>
          </p:nvPr>
        </p:nvPicPr>
        <p:blipFill>
          <a:blip r:embed="rId2"/>
          <a:srcRect l="5280" r="5280"/>
          <a:stretch>
            <a:fillRect/>
          </a:stretch>
        </p:blipFill>
        <p:spPr>
          <a:xfrm>
            <a:off x="2658070" y="1379315"/>
            <a:ext cx="6875859" cy="2918318"/>
          </a:xfrm>
          <a:prstGeom prst="rect">
            <a:avLst/>
          </a:prstGeom>
        </p:spPr>
      </p:pic>
      <p:sp>
        <p:nvSpPr>
          <p:cNvPr id="221" name="Shape 221"/>
          <p:cNvSpPr>
            <a:spLocks noGrp="1"/>
          </p:cNvSpPr>
          <p:nvPr>
            <p:ph type="title"/>
          </p:nvPr>
        </p:nvSpPr>
        <p:spPr>
          <a:prstGeom prst="rect">
            <a:avLst/>
          </a:prstGeom>
        </p:spPr>
        <p:txBody>
          <a:bodyPr/>
          <a:lstStyle/>
          <a:p>
            <a:r>
              <a:t>Generalization</a:t>
            </a:r>
          </a:p>
        </p:txBody>
      </p:sp>
      <p:sp>
        <p:nvSpPr>
          <p:cNvPr id="222" name="Shape 222"/>
          <p:cNvSpPr>
            <a:spLocks noGrp="1"/>
          </p:cNvSpPr>
          <p:nvPr>
            <p:ph type="body" sz="quarter" idx="1"/>
          </p:nvPr>
        </p:nvSpPr>
        <p:spPr>
          <a:xfrm>
            <a:off x="4330877" y="4553147"/>
            <a:ext cx="6215177" cy="1583701"/>
          </a:xfrm>
          <a:prstGeom prst="rect">
            <a:avLst/>
          </a:prstGeom>
        </p:spPr>
        <p:txBody>
          <a:bodyPr>
            <a:noAutofit/>
          </a:bodyPr>
          <a:lstStyle/>
          <a:p>
            <a:pPr marL="0" indent="0">
              <a:buNone/>
            </a:pPr>
            <a:r>
              <a:rPr lang="en-US" sz="3200" dirty="0"/>
              <a:t>All these</a:t>
            </a:r>
            <a:r>
              <a:rPr sz="3200" dirty="0"/>
              <a:t> different accounts can be seen as variations of some “general”</a:t>
            </a:r>
            <a:r>
              <a:rPr lang="en-US" sz="3200" dirty="0"/>
              <a:t> </a:t>
            </a:r>
            <a:r>
              <a:rPr sz="3200" dirty="0"/>
              <a:t>account…</a:t>
            </a:r>
          </a:p>
        </p:txBody>
      </p:sp>
      <p:sp>
        <p:nvSpPr>
          <p:cNvPr id="223" name="Shape 223"/>
          <p:cNvSpPr/>
          <p:nvPr/>
        </p:nvSpPr>
        <p:spPr>
          <a:xfrm>
            <a:off x="741706" y="2228948"/>
            <a:ext cx="1480724" cy="892969"/>
          </a:xfrm>
          <a:prstGeom prst="rect">
            <a:avLst/>
          </a:prstGeom>
          <a:gradFill>
            <a:gsLst>
              <a:gs pos="0">
                <a:srgbClr val="FBFBFB"/>
              </a:gs>
              <a:gs pos="100000">
                <a:srgbClr val="BEBEBE"/>
              </a:gs>
            </a:gsLst>
            <a:lin ang="5400000"/>
          </a:gradFill>
          <a:ln w="12700">
            <a:miter lim="400000"/>
          </a:ln>
          <a:effectLst>
            <a:outerShdw blurRad="38100" dist="25400" dir="5400000" rotWithShape="0">
              <a:srgbClr val="000000">
                <a:alpha val="50000"/>
              </a:srgbClr>
            </a:outerShdw>
          </a:effectLst>
          <a:extLst>
            <a:ext uri="{C572A759-6A51-4108-AA02-DFA0A04FC94B}">
              <ma14:wrappingTextBoxFlag xmlns="" xmlns:ma14="http://schemas.microsoft.com/office/mac/drawingml/2011/main" val="1"/>
            </a:ext>
          </a:extLst>
        </p:spPr>
        <p:txBody>
          <a:bodyPr lIns="35719" tIns="35719" rIns="35719" bIns="35719" anchor="ctr"/>
          <a:lstStyle>
            <a:lvl1pPr>
              <a:defRPr sz="2400">
                <a:latin typeface="Chalkboard"/>
                <a:ea typeface="Chalkboard"/>
                <a:cs typeface="Chalkboard"/>
                <a:sym typeface="Chalkboard"/>
              </a:defRPr>
            </a:lvl1pPr>
          </a:lstStyle>
          <a:p>
            <a:r>
              <a:rPr sz="1687" dirty="0"/>
              <a:t>conceptual superclass</a:t>
            </a:r>
          </a:p>
        </p:txBody>
      </p:sp>
    </p:spTree>
    <p:extLst>
      <p:ext uri="{BB962C8B-B14F-4D97-AF65-F5344CB8AC3E}">
        <p14:creationId xmlns:p14="http://schemas.microsoft.com/office/powerpoint/2010/main" val="386285884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Shape 226"/>
          <p:cNvSpPr>
            <a:spLocks noGrp="1"/>
          </p:cNvSpPr>
          <p:nvPr>
            <p:ph type="title"/>
          </p:nvPr>
        </p:nvSpPr>
        <p:spPr>
          <a:prstGeom prst="rect">
            <a:avLst/>
          </a:prstGeom>
        </p:spPr>
        <p:txBody>
          <a:bodyPr/>
          <a:lstStyle/>
          <a:p>
            <a:r>
              <a:t>Generalization in UML</a:t>
            </a:r>
          </a:p>
        </p:txBody>
      </p:sp>
      <p:sp>
        <p:nvSpPr>
          <p:cNvPr id="228" name="Shape 228"/>
          <p:cNvSpPr/>
          <p:nvPr/>
        </p:nvSpPr>
        <p:spPr>
          <a:xfrm>
            <a:off x="2100319" y="2267847"/>
            <a:ext cx="1480724" cy="892969"/>
          </a:xfrm>
          <a:prstGeom prst="rect">
            <a:avLst/>
          </a:prstGeom>
          <a:gradFill>
            <a:gsLst>
              <a:gs pos="0">
                <a:srgbClr val="FBFBFB"/>
              </a:gs>
              <a:gs pos="100000">
                <a:srgbClr val="BEBEBE"/>
              </a:gs>
            </a:gsLst>
            <a:lin ang="5400000"/>
          </a:gradFill>
          <a:ln w="12700">
            <a:miter lim="400000"/>
          </a:ln>
          <a:effectLst>
            <a:outerShdw blurRad="38100" dist="25400" dir="5400000" rotWithShape="0">
              <a:srgbClr val="000000">
                <a:alpha val="50000"/>
              </a:srgbClr>
            </a:outerShdw>
          </a:effectLst>
          <a:extLst>
            <a:ext uri="{C572A759-6A51-4108-AA02-DFA0A04FC94B}">
              <ma14:wrappingTextBoxFlag xmlns="" xmlns:ma14="http://schemas.microsoft.com/office/mac/drawingml/2011/main" val="1"/>
            </a:ext>
          </a:extLst>
        </p:spPr>
        <p:txBody>
          <a:bodyPr lIns="35719" tIns="35719" rIns="35719" bIns="35719" anchor="ctr"/>
          <a:lstStyle>
            <a:lvl1pPr>
              <a:defRPr sz="2400">
                <a:latin typeface="Chalkboard"/>
                <a:ea typeface="Chalkboard"/>
                <a:cs typeface="Chalkboard"/>
                <a:sym typeface="Chalkboard"/>
              </a:defRPr>
            </a:lvl1pPr>
          </a:lstStyle>
          <a:p>
            <a:r>
              <a:rPr sz="1687" dirty="0"/>
              <a:t>generalization symbol</a:t>
            </a:r>
          </a:p>
        </p:txBody>
      </p:sp>
      <p:sp>
        <p:nvSpPr>
          <p:cNvPr id="229" name="Shape 229"/>
          <p:cNvSpPr/>
          <p:nvPr/>
        </p:nvSpPr>
        <p:spPr>
          <a:xfrm>
            <a:off x="3597763" y="2757877"/>
            <a:ext cx="1639095" cy="691113"/>
          </a:xfrm>
          <a:custGeom>
            <a:avLst/>
            <a:gdLst/>
            <a:ahLst/>
            <a:cxnLst>
              <a:cxn ang="0">
                <a:pos x="wd2" y="hd2"/>
              </a:cxn>
              <a:cxn ang="5400000">
                <a:pos x="wd2" y="hd2"/>
              </a:cxn>
              <a:cxn ang="10800000">
                <a:pos x="wd2" y="hd2"/>
              </a:cxn>
              <a:cxn ang="16200000">
                <a:pos x="wd2" y="hd2"/>
              </a:cxn>
            </a:cxnLst>
            <a:rect l="0" t="0" r="r" b="b"/>
            <a:pathLst>
              <a:path w="21600" h="21516" extrusionOk="0">
                <a:moveTo>
                  <a:pt x="0" y="189"/>
                </a:moveTo>
                <a:cubicBezTo>
                  <a:pt x="1446" y="-84"/>
                  <a:pt x="2899" y="-61"/>
                  <a:pt x="4344" y="259"/>
                </a:cubicBezTo>
                <a:cubicBezTo>
                  <a:pt x="11051" y="1741"/>
                  <a:pt x="17246" y="9372"/>
                  <a:pt x="21600" y="21516"/>
                </a:cubicBezTo>
              </a:path>
            </a:pathLst>
          </a:custGeom>
          <a:ln w="38100">
            <a:solidFill>
              <a:srgbClr val="000000"/>
            </a:solidFill>
            <a:miter lim="400000"/>
            <a:tailEnd type="triangle"/>
          </a:ln>
        </p:spPr>
        <p:txBody>
          <a:bodyPr lIns="35719" tIns="35719" rIns="35719" bIns="35719" anchor="ctr"/>
          <a:lstStyle/>
          <a:p>
            <a:pPr>
              <a:defRPr sz="2400">
                <a:latin typeface="Chalkboard"/>
                <a:ea typeface="Chalkboard"/>
                <a:cs typeface="Chalkboard"/>
                <a:sym typeface="Chalkboard"/>
              </a:defRPr>
            </a:pPr>
            <a:endParaRPr sz="1687"/>
          </a:p>
        </p:txBody>
      </p:sp>
      <p:pic>
        <p:nvPicPr>
          <p:cNvPr id="4" name="Picture 3">
            <a:extLst>
              <a:ext uri="{FF2B5EF4-FFF2-40B4-BE49-F238E27FC236}">
                <a16:creationId xmlns:a16="http://schemas.microsoft.com/office/drawing/2014/main" id="{5FCCC44E-4BEC-4600-B436-839626D1FAD6}"/>
              </a:ext>
            </a:extLst>
          </p:cNvPr>
          <p:cNvPicPr>
            <a:picLocks noChangeAspect="1"/>
          </p:cNvPicPr>
          <p:nvPr/>
        </p:nvPicPr>
        <p:blipFill rotWithShape="1">
          <a:blip r:embed="rId2"/>
          <a:srcRect r="31599" b="29404"/>
          <a:stretch/>
        </p:blipFill>
        <p:spPr>
          <a:xfrm>
            <a:off x="3331803" y="1948216"/>
            <a:ext cx="7061217" cy="3690584"/>
          </a:xfrm>
          <a:prstGeom prst="rect">
            <a:avLst/>
          </a:prstGeom>
        </p:spPr>
      </p:pic>
    </p:spTree>
    <p:extLst>
      <p:ext uri="{BB962C8B-B14F-4D97-AF65-F5344CB8AC3E}">
        <p14:creationId xmlns:p14="http://schemas.microsoft.com/office/powerpoint/2010/main" val="2001887489"/>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1" name="pasted-image.pdf"/>
          <p:cNvPicPr>
            <a:picLocks noGrp="1" noChangeAspect="1"/>
          </p:cNvPicPr>
          <p:nvPr>
            <p:ph type="pic" idx="13"/>
          </p:nvPr>
        </p:nvPicPr>
        <p:blipFill>
          <a:blip r:embed="rId3"/>
          <a:srcRect l="2553" r="2553"/>
          <a:stretch>
            <a:fillRect/>
          </a:stretch>
        </p:blipFill>
        <p:spPr>
          <a:xfrm>
            <a:off x="2129716" y="3496222"/>
            <a:ext cx="8601334" cy="3114527"/>
          </a:xfrm>
          <a:prstGeom prst="rect">
            <a:avLst/>
          </a:prstGeom>
        </p:spPr>
      </p:pic>
      <p:sp>
        <p:nvSpPr>
          <p:cNvPr id="232" name="Shape 232"/>
          <p:cNvSpPr>
            <a:spLocks noGrp="1"/>
          </p:cNvSpPr>
          <p:nvPr>
            <p:ph type="title"/>
          </p:nvPr>
        </p:nvSpPr>
        <p:spPr>
          <a:prstGeom prst="rect">
            <a:avLst/>
          </a:prstGeom>
        </p:spPr>
        <p:txBody>
          <a:bodyPr>
            <a:normAutofit/>
          </a:bodyPr>
          <a:lstStyle>
            <a:lvl1pPr defTabSz="490727">
              <a:defRPr sz="6719"/>
            </a:lvl1pPr>
          </a:lstStyle>
          <a:p>
            <a:r>
              <a:rPr sz="4400" dirty="0"/>
              <a:t>Abstract Conceptual Class</a:t>
            </a:r>
          </a:p>
        </p:txBody>
      </p:sp>
      <p:sp>
        <p:nvSpPr>
          <p:cNvPr id="233" name="Shape 233"/>
          <p:cNvSpPr>
            <a:spLocks noGrp="1"/>
          </p:cNvSpPr>
          <p:nvPr>
            <p:ph type="body" sz="quarter" idx="1"/>
          </p:nvPr>
        </p:nvSpPr>
        <p:spPr>
          <a:xfrm>
            <a:off x="892969" y="1830586"/>
            <a:ext cx="10626586" cy="1195418"/>
          </a:xfrm>
          <a:prstGeom prst="rect">
            <a:avLst/>
          </a:prstGeom>
        </p:spPr>
        <p:txBody>
          <a:bodyPr>
            <a:noAutofit/>
          </a:bodyPr>
          <a:lstStyle/>
          <a:p>
            <a:pPr marL="0" indent="0">
              <a:buNone/>
            </a:pPr>
            <a:r>
              <a:rPr lang="en-US" sz="3200" dirty="0"/>
              <a:t>A</a:t>
            </a:r>
            <a:r>
              <a:rPr sz="3200" dirty="0"/>
              <a:t>ll objects must be a member of a subclass</a:t>
            </a:r>
            <a:r>
              <a:rPr lang="en-US" sz="3200" dirty="0"/>
              <a:t>—there will be no instantiation of an Account object.</a:t>
            </a:r>
            <a:endParaRPr sz="3200" dirty="0"/>
          </a:p>
        </p:txBody>
      </p:sp>
    </p:spTree>
    <p:extLst>
      <p:ext uri="{BB962C8B-B14F-4D97-AF65-F5344CB8AC3E}">
        <p14:creationId xmlns:p14="http://schemas.microsoft.com/office/powerpoint/2010/main" val="675364425"/>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07C4D9-F9F4-42E6-BB70-8D1B9CC1EB57}"/>
              </a:ext>
            </a:extLst>
          </p:cNvPr>
          <p:cNvSpPr>
            <a:spLocks noGrp="1"/>
          </p:cNvSpPr>
          <p:nvPr>
            <p:ph type="title"/>
          </p:nvPr>
        </p:nvSpPr>
        <p:spPr>
          <a:xfrm>
            <a:off x="838200" y="365125"/>
            <a:ext cx="10124440" cy="742315"/>
          </a:xfrm>
        </p:spPr>
        <p:txBody>
          <a:bodyPr>
            <a:normAutofit/>
          </a:bodyPr>
          <a:lstStyle/>
          <a:p>
            <a:r>
              <a:rPr lang="en-US" dirty="0"/>
              <a:t>A Different Account Example: Relationships</a:t>
            </a:r>
            <a:endParaRPr lang="en-CA" dirty="0"/>
          </a:p>
        </p:txBody>
      </p:sp>
      <p:sp>
        <p:nvSpPr>
          <p:cNvPr id="6" name="Content Placeholder 5">
            <a:extLst>
              <a:ext uri="{FF2B5EF4-FFF2-40B4-BE49-F238E27FC236}">
                <a16:creationId xmlns:a16="http://schemas.microsoft.com/office/drawing/2014/main" id="{79781EE3-DF78-442A-9364-7863A81DCF16}"/>
              </a:ext>
            </a:extLst>
          </p:cNvPr>
          <p:cNvSpPr>
            <a:spLocks noGrp="1"/>
          </p:cNvSpPr>
          <p:nvPr>
            <p:ph idx="1"/>
          </p:nvPr>
        </p:nvSpPr>
        <p:spPr>
          <a:xfrm>
            <a:off x="320040" y="1473200"/>
            <a:ext cx="4526280" cy="5019675"/>
          </a:xfrm>
        </p:spPr>
        <p:txBody>
          <a:bodyPr>
            <a:normAutofit fontScale="92500" lnSpcReduction="20000"/>
          </a:bodyPr>
          <a:lstStyle/>
          <a:p>
            <a:r>
              <a:rPr lang="en-US" dirty="0"/>
              <a:t>In a generalization, classes take on the relationships of the base class.</a:t>
            </a:r>
          </a:p>
          <a:p>
            <a:r>
              <a:rPr lang="en-US" dirty="0"/>
              <a:t>Every specialization of the Account object has to be associated with one </a:t>
            </a:r>
            <a:r>
              <a:rPr lang="en-US" dirty="0" err="1"/>
              <a:t>AccountManager</a:t>
            </a:r>
            <a:r>
              <a:rPr lang="en-US" dirty="0"/>
              <a:t> object and one </a:t>
            </a:r>
            <a:r>
              <a:rPr lang="en-US" dirty="0" err="1"/>
              <a:t>SecurityDesignation</a:t>
            </a:r>
            <a:r>
              <a:rPr lang="en-US" dirty="0"/>
              <a:t> object.</a:t>
            </a:r>
          </a:p>
          <a:p>
            <a:r>
              <a:rPr lang="en-US" dirty="0" err="1"/>
              <a:t>BusinessAccount</a:t>
            </a:r>
            <a:r>
              <a:rPr lang="en-US" dirty="0"/>
              <a:t> objects are also associated with a </a:t>
            </a:r>
            <a:r>
              <a:rPr lang="en-US" dirty="0" err="1"/>
              <a:t>BusinessProfile</a:t>
            </a:r>
            <a:r>
              <a:rPr lang="en-US" dirty="0"/>
              <a:t> object</a:t>
            </a:r>
          </a:p>
          <a:p>
            <a:r>
              <a:rPr lang="en-US" dirty="0" err="1"/>
              <a:t>PersonalAccount</a:t>
            </a:r>
            <a:r>
              <a:rPr lang="en-US" dirty="0"/>
              <a:t> objects are also associated with a </a:t>
            </a:r>
            <a:r>
              <a:rPr lang="en-US" dirty="0" err="1"/>
              <a:t>PersonalProfile</a:t>
            </a:r>
            <a:r>
              <a:rPr lang="en-US" dirty="0"/>
              <a:t> object</a:t>
            </a:r>
            <a:endParaRPr lang="en-CA" dirty="0"/>
          </a:p>
        </p:txBody>
      </p:sp>
      <p:pic>
        <p:nvPicPr>
          <p:cNvPr id="11" name="Picture 10">
            <a:extLst>
              <a:ext uri="{FF2B5EF4-FFF2-40B4-BE49-F238E27FC236}">
                <a16:creationId xmlns:a16="http://schemas.microsoft.com/office/drawing/2014/main" id="{A0877F30-A535-44C1-B66F-B0E6EB239130}"/>
              </a:ext>
            </a:extLst>
          </p:cNvPr>
          <p:cNvPicPr/>
          <p:nvPr/>
        </p:nvPicPr>
        <p:blipFill>
          <a:blip r:embed="rId2"/>
          <a:srcRect/>
          <a:stretch>
            <a:fillRect/>
          </a:stretch>
        </p:blipFill>
        <p:spPr bwMode="auto">
          <a:xfrm>
            <a:off x="4846320" y="956785"/>
            <a:ext cx="7111999" cy="5282089"/>
          </a:xfrm>
          <a:prstGeom prst="rect">
            <a:avLst/>
          </a:prstGeom>
          <a:noFill/>
          <a:ln w="9525">
            <a:noFill/>
            <a:miter lim="800000"/>
            <a:headEnd/>
            <a:tailEnd/>
          </a:ln>
        </p:spPr>
      </p:pic>
    </p:spTree>
    <p:extLst>
      <p:ext uri="{BB962C8B-B14F-4D97-AF65-F5344CB8AC3E}">
        <p14:creationId xmlns:p14="http://schemas.microsoft.com/office/powerpoint/2010/main" val="2071775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A50ADE-282E-43A1-A126-286E6E49DDE0}"/>
              </a:ext>
            </a:extLst>
          </p:cNvPr>
          <p:cNvSpPr>
            <a:spLocks noGrp="1"/>
          </p:cNvSpPr>
          <p:nvPr>
            <p:ph type="title"/>
          </p:nvPr>
        </p:nvSpPr>
        <p:spPr>
          <a:xfrm>
            <a:off x="838200" y="365125"/>
            <a:ext cx="10515600" cy="874395"/>
          </a:xfrm>
        </p:spPr>
        <p:txBody>
          <a:bodyPr/>
          <a:lstStyle/>
          <a:p>
            <a:r>
              <a:rPr lang="en-US" dirty="0"/>
              <a:t>Exercise 4: Find and draw the generalization</a:t>
            </a:r>
            <a:endParaRPr lang="en-CA" dirty="0"/>
          </a:p>
        </p:txBody>
      </p:sp>
      <p:sp>
        <p:nvSpPr>
          <p:cNvPr id="9" name="Rectangle 8">
            <a:extLst>
              <a:ext uri="{FF2B5EF4-FFF2-40B4-BE49-F238E27FC236}">
                <a16:creationId xmlns:a16="http://schemas.microsoft.com/office/drawing/2014/main" id="{486E23EF-91EA-47F1-8E17-E5F75B07F3FA}"/>
              </a:ext>
            </a:extLst>
          </p:cNvPr>
          <p:cNvSpPr/>
          <p:nvPr/>
        </p:nvSpPr>
        <p:spPr>
          <a:xfrm>
            <a:off x="1087120" y="1718717"/>
            <a:ext cx="8737600" cy="1938992"/>
          </a:xfrm>
          <a:prstGeom prst="rect">
            <a:avLst/>
          </a:prstGeom>
        </p:spPr>
        <p:txBody>
          <a:bodyPr wrap="square">
            <a:spAutoFit/>
          </a:bodyPr>
          <a:lstStyle/>
          <a:p>
            <a:pPr>
              <a:spcAft>
                <a:spcPts val="0"/>
              </a:spcAft>
            </a:pPr>
            <a:r>
              <a:rPr lang="en-CA" sz="2400" dirty="0">
                <a:latin typeface="Calibri" panose="020F0502020204030204" pitchFamily="34" charset="0"/>
                <a:ea typeface="Calibri" panose="020F0502020204030204" pitchFamily="34" charset="0"/>
                <a:cs typeface="Times New Roman" panose="02020603050405020304" pitchFamily="18" charset="0"/>
              </a:rPr>
              <a:t>A Customer can place an order for either a custom or stock (ready made) window. Each window is considered a separate order. Custom windows have custom sizes which require a description of sizing, glass, etc. and stock windows have stock sizes.</a:t>
            </a:r>
          </a:p>
          <a:p>
            <a:pPr>
              <a:spcAft>
                <a:spcPts val="0"/>
              </a:spcAft>
            </a:pPr>
            <a:r>
              <a:rPr lang="en-CA" sz="2400" dirty="0">
                <a:latin typeface="Calibri" panose="020F0502020204030204" pitchFamily="34" charset="0"/>
                <a:ea typeface="Calibri" panose="020F0502020204030204" pitchFamily="34" charset="0"/>
                <a:cs typeface="Times New Roman" panose="02020603050405020304" pitchFamily="18" charset="0"/>
              </a:rPr>
              <a:t> </a:t>
            </a:r>
          </a:p>
        </p:txBody>
      </p:sp>
      <p:pic>
        <p:nvPicPr>
          <p:cNvPr id="11" name="Picture 10">
            <a:extLst>
              <a:ext uri="{FF2B5EF4-FFF2-40B4-BE49-F238E27FC236}">
                <a16:creationId xmlns:a16="http://schemas.microsoft.com/office/drawing/2014/main" id="{98702BD3-F10D-4EB8-9864-C7FB61680A5E}"/>
              </a:ext>
            </a:extLst>
          </p:cNvPr>
          <p:cNvPicPr/>
          <p:nvPr/>
        </p:nvPicPr>
        <p:blipFill>
          <a:blip r:embed="rId2"/>
          <a:srcRect r="31134" b="31455"/>
          <a:stretch>
            <a:fillRect/>
          </a:stretch>
        </p:blipFill>
        <p:spPr bwMode="auto">
          <a:xfrm>
            <a:off x="1313497" y="3287394"/>
            <a:ext cx="7119303" cy="3316605"/>
          </a:xfrm>
          <a:prstGeom prst="rect">
            <a:avLst/>
          </a:prstGeom>
          <a:noFill/>
          <a:ln w="9525">
            <a:noFill/>
            <a:miter lim="800000"/>
            <a:headEnd/>
            <a:tailEnd/>
          </a:ln>
        </p:spPr>
      </p:pic>
    </p:spTree>
    <p:extLst>
      <p:ext uri="{BB962C8B-B14F-4D97-AF65-F5344CB8AC3E}">
        <p14:creationId xmlns:p14="http://schemas.microsoft.com/office/powerpoint/2010/main" val="964871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A50ADE-282E-43A1-A126-286E6E49DDE0}"/>
              </a:ext>
            </a:extLst>
          </p:cNvPr>
          <p:cNvSpPr>
            <a:spLocks noGrp="1"/>
          </p:cNvSpPr>
          <p:nvPr>
            <p:ph type="title"/>
          </p:nvPr>
        </p:nvSpPr>
        <p:spPr>
          <a:xfrm>
            <a:off x="838200" y="365125"/>
            <a:ext cx="10515600" cy="874395"/>
          </a:xfrm>
        </p:spPr>
        <p:txBody>
          <a:bodyPr/>
          <a:lstStyle/>
          <a:p>
            <a:r>
              <a:rPr lang="en-US" dirty="0"/>
              <a:t>Exercise 5: Find and draw the generalization</a:t>
            </a:r>
            <a:endParaRPr lang="en-CA" dirty="0"/>
          </a:p>
        </p:txBody>
      </p:sp>
      <p:sp>
        <p:nvSpPr>
          <p:cNvPr id="9" name="Rectangle 8">
            <a:extLst>
              <a:ext uri="{FF2B5EF4-FFF2-40B4-BE49-F238E27FC236}">
                <a16:creationId xmlns:a16="http://schemas.microsoft.com/office/drawing/2014/main" id="{486E23EF-91EA-47F1-8E17-E5F75B07F3FA}"/>
              </a:ext>
            </a:extLst>
          </p:cNvPr>
          <p:cNvSpPr/>
          <p:nvPr/>
        </p:nvSpPr>
        <p:spPr>
          <a:xfrm>
            <a:off x="1087120" y="1718717"/>
            <a:ext cx="8737600" cy="1015663"/>
          </a:xfrm>
          <a:prstGeom prst="rect">
            <a:avLst/>
          </a:prstGeom>
        </p:spPr>
        <p:txBody>
          <a:bodyPr wrap="square">
            <a:spAutoFit/>
          </a:bodyPr>
          <a:lstStyle/>
          <a:p>
            <a:r>
              <a:rPr lang="en-CA" dirty="0"/>
              <a:t>The diagram below describes a system to manage both contract and salaried employee pay rates. Redraw using a generalization.</a:t>
            </a:r>
          </a:p>
          <a:p>
            <a:pPr>
              <a:spcAft>
                <a:spcPts val="0"/>
              </a:spcAft>
            </a:pPr>
            <a:r>
              <a:rPr lang="en-CA" sz="2400" dirty="0">
                <a:latin typeface="Calibri" panose="020F0502020204030204" pitchFamily="34" charset="0"/>
                <a:ea typeface="Calibri" panose="020F0502020204030204" pitchFamily="34" charset="0"/>
                <a:cs typeface="Times New Roman" panose="02020603050405020304" pitchFamily="18" charset="0"/>
              </a:rPr>
              <a:t> </a:t>
            </a:r>
          </a:p>
        </p:txBody>
      </p:sp>
      <p:pic>
        <p:nvPicPr>
          <p:cNvPr id="5" name="Picture 4">
            <a:extLst>
              <a:ext uri="{FF2B5EF4-FFF2-40B4-BE49-F238E27FC236}">
                <a16:creationId xmlns:a16="http://schemas.microsoft.com/office/drawing/2014/main" id="{60B214A5-BFB1-4C0A-A8C2-897CC27617D0}"/>
              </a:ext>
            </a:extLst>
          </p:cNvPr>
          <p:cNvPicPr/>
          <p:nvPr/>
        </p:nvPicPr>
        <p:blipFill>
          <a:blip r:embed="rId2"/>
          <a:srcRect r="32977" b="30372"/>
          <a:stretch>
            <a:fillRect/>
          </a:stretch>
        </p:blipFill>
        <p:spPr bwMode="auto">
          <a:xfrm>
            <a:off x="1209040" y="2433319"/>
            <a:ext cx="7457440" cy="4059555"/>
          </a:xfrm>
          <a:prstGeom prst="rect">
            <a:avLst/>
          </a:prstGeom>
          <a:noFill/>
          <a:ln w="9525">
            <a:noFill/>
            <a:miter lim="800000"/>
            <a:headEnd/>
            <a:tailEnd/>
          </a:ln>
        </p:spPr>
      </p:pic>
    </p:spTree>
    <p:extLst>
      <p:ext uri="{BB962C8B-B14F-4D97-AF65-F5344CB8AC3E}">
        <p14:creationId xmlns:p14="http://schemas.microsoft.com/office/powerpoint/2010/main" val="15808802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A50ADE-282E-43A1-A126-286E6E49DDE0}"/>
              </a:ext>
            </a:extLst>
          </p:cNvPr>
          <p:cNvSpPr>
            <a:spLocks noGrp="1"/>
          </p:cNvSpPr>
          <p:nvPr>
            <p:ph type="title"/>
          </p:nvPr>
        </p:nvSpPr>
        <p:spPr>
          <a:xfrm>
            <a:off x="838200" y="365125"/>
            <a:ext cx="10515600" cy="874395"/>
          </a:xfrm>
        </p:spPr>
        <p:txBody>
          <a:bodyPr/>
          <a:lstStyle/>
          <a:p>
            <a:r>
              <a:rPr lang="en-US" dirty="0"/>
              <a:t>Exercise 6: Find and draw the generalization</a:t>
            </a:r>
            <a:endParaRPr lang="en-CA" dirty="0"/>
          </a:p>
        </p:txBody>
      </p:sp>
      <p:sp>
        <p:nvSpPr>
          <p:cNvPr id="9" name="Rectangle 8">
            <a:extLst>
              <a:ext uri="{FF2B5EF4-FFF2-40B4-BE49-F238E27FC236}">
                <a16:creationId xmlns:a16="http://schemas.microsoft.com/office/drawing/2014/main" id="{486E23EF-91EA-47F1-8E17-E5F75B07F3FA}"/>
              </a:ext>
            </a:extLst>
          </p:cNvPr>
          <p:cNvSpPr/>
          <p:nvPr/>
        </p:nvSpPr>
        <p:spPr>
          <a:xfrm>
            <a:off x="1087120" y="1718717"/>
            <a:ext cx="8737600" cy="461665"/>
          </a:xfrm>
          <a:prstGeom prst="rect">
            <a:avLst/>
          </a:prstGeom>
        </p:spPr>
        <p:txBody>
          <a:bodyPr wrap="square">
            <a:spAutoFit/>
          </a:bodyPr>
          <a:lstStyle/>
          <a:p>
            <a:r>
              <a:rPr lang="en-CA" dirty="0"/>
              <a:t>Redraw the following diagram using a generalization relationship </a:t>
            </a:r>
            <a:r>
              <a:rPr lang="en-CA" sz="2400" dirty="0">
                <a:latin typeface="Calibri" panose="020F0502020204030204" pitchFamily="34" charset="0"/>
                <a:ea typeface="Calibri" panose="020F0502020204030204" pitchFamily="34" charset="0"/>
                <a:cs typeface="Times New Roman" panose="02020603050405020304" pitchFamily="18" charset="0"/>
              </a:rPr>
              <a:t> </a:t>
            </a:r>
          </a:p>
        </p:txBody>
      </p:sp>
      <p:pic>
        <p:nvPicPr>
          <p:cNvPr id="6" name="Picture 5">
            <a:extLst>
              <a:ext uri="{FF2B5EF4-FFF2-40B4-BE49-F238E27FC236}">
                <a16:creationId xmlns:a16="http://schemas.microsoft.com/office/drawing/2014/main" id="{6961B3CC-613D-4872-A719-139C3CD034E3}"/>
              </a:ext>
            </a:extLst>
          </p:cNvPr>
          <p:cNvPicPr/>
          <p:nvPr/>
        </p:nvPicPr>
        <p:blipFill>
          <a:blip r:embed="rId2"/>
          <a:srcRect r="33486" b="29614"/>
          <a:stretch>
            <a:fillRect/>
          </a:stretch>
        </p:blipFill>
        <p:spPr bwMode="auto">
          <a:xfrm>
            <a:off x="929004" y="2531110"/>
            <a:ext cx="8737599" cy="2995930"/>
          </a:xfrm>
          <a:prstGeom prst="rect">
            <a:avLst/>
          </a:prstGeom>
          <a:noFill/>
          <a:ln w="9525">
            <a:noFill/>
            <a:miter lim="800000"/>
            <a:headEnd/>
            <a:tailEnd/>
          </a:ln>
        </p:spPr>
      </p:pic>
    </p:spTree>
    <p:extLst>
      <p:ext uri="{BB962C8B-B14F-4D97-AF65-F5344CB8AC3E}">
        <p14:creationId xmlns:p14="http://schemas.microsoft.com/office/powerpoint/2010/main" val="2392152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TotalTime>
  <Words>1596</Words>
  <Application>Microsoft Office PowerPoint</Application>
  <PresentationFormat>Widescreen</PresentationFormat>
  <Paragraphs>187</Paragraphs>
  <Slides>36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Calibri Light</vt:lpstr>
      <vt:lpstr>Chalkboard</vt:lpstr>
      <vt:lpstr>Helvetica</vt:lpstr>
      <vt:lpstr>Times New Roman</vt:lpstr>
      <vt:lpstr>Office Theme</vt:lpstr>
      <vt:lpstr>SYD466: Software Analysis and Design – Part II</vt:lpstr>
      <vt:lpstr>Do you have the prerequisite?</vt:lpstr>
      <vt:lpstr>The Role of the Systems Analyst</vt:lpstr>
      <vt:lpstr>In SYD466</vt:lpstr>
      <vt:lpstr>In SYD466</vt:lpstr>
      <vt:lpstr>We worked on our Modelling skills in SYD366</vt:lpstr>
      <vt:lpstr>SYD466</vt:lpstr>
      <vt:lpstr>What are we doing in our SYD Courses?</vt:lpstr>
      <vt:lpstr>What did we do in SYD366?</vt:lpstr>
      <vt:lpstr>What are we doing in SYD466?</vt:lpstr>
      <vt:lpstr>Our Intent</vt:lpstr>
      <vt:lpstr>So let’s look at the Advanced Concepts of Composition and Generalization</vt:lpstr>
      <vt:lpstr>A Composition Relationship</vt:lpstr>
      <vt:lpstr>PowerPoint Presentation</vt:lpstr>
      <vt:lpstr>Analysis:</vt:lpstr>
      <vt:lpstr>Example Composition:</vt:lpstr>
      <vt:lpstr>Association between Invoice and InvoiceLine</vt:lpstr>
      <vt:lpstr>InvoiceLine and Product</vt:lpstr>
      <vt:lpstr>Exercise 1: could this be a composition relationship? Why or why not? (If yes, draw it in)</vt:lpstr>
      <vt:lpstr>Exercise 2: could this be a composition relationship? Why or why not? (If yes, draw it in)</vt:lpstr>
      <vt:lpstr>Exercise 3: could this be a composition relationship? Why or why not? (If yes, draw it in)</vt:lpstr>
      <vt:lpstr>2 principles of composition</vt:lpstr>
      <vt:lpstr>Generalization</vt:lpstr>
      <vt:lpstr>Generalization in a Domain Model</vt:lpstr>
      <vt:lpstr>Characteristics of a Domain Model</vt:lpstr>
      <vt:lpstr>When to use a Generalization Relationship</vt:lpstr>
      <vt:lpstr>Generalization</vt:lpstr>
      <vt:lpstr>Example: Bank Accounts</vt:lpstr>
      <vt:lpstr>Potential Class Diagram</vt:lpstr>
      <vt:lpstr>Generalization</vt:lpstr>
      <vt:lpstr>Generalization in UML</vt:lpstr>
      <vt:lpstr>Abstract Conceptual Class</vt:lpstr>
      <vt:lpstr>A Different Account Example: Relationships</vt:lpstr>
      <vt:lpstr>Exercise 4: Find and draw the generalization</vt:lpstr>
      <vt:lpstr>Exercise 5: Find and draw the generalization</vt:lpstr>
      <vt:lpstr>Exercise 6: Find and draw the generalization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Object Oriented Analysis &amp; Design</dc:title>
  <dc:creator>Barbara Czegel</dc:creator>
  <cp:lastModifiedBy>Cindy Laurin</cp:lastModifiedBy>
  <cp:revision>12</cp:revision>
  <dcterms:created xsi:type="dcterms:W3CDTF">2018-08-31T21:29:43Z</dcterms:created>
  <dcterms:modified xsi:type="dcterms:W3CDTF">2021-08-13T15:17:13Z</dcterms:modified>
</cp:coreProperties>
</file>