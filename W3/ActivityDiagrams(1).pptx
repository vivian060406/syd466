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57" r:id="rId3"/>
    <p:sldId id="258" r:id="rId4"/>
    <p:sldId id="259" r:id="rId5"/>
    <p:sldId id="260" r:id="rId6"/>
    <p:sldId id="262" r:id="rId7"/>
    <p:sldId id="261"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14674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70313"/>
          </a:xfrm>
        </p:spPr>
        <p:txBody>
          <a:bodyPr>
            <a:normAutofit/>
          </a:bodyPr>
          <a:lstStyle>
            <a:lvl1pPr>
              <a:defRPr sz="3600"/>
            </a:lvl1pPr>
          </a:lstStyle>
          <a:p>
            <a:r>
              <a:rPr lang="en-US" dirty="0"/>
              <a:t>Click to edit Master title style</a:t>
            </a:r>
          </a:p>
        </p:txBody>
      </p:sp>
      <p:sp>
        <p:nvSpPr>
          <p:cNvPr id="3" name="Content Placeholder 2"/>
          <p:cNvSpPr>
            <a:spLocks noGrp="1"/>
          </p:cNvSpPr>
          <p:nvPr>
            <p:ph idx="1"/>
          </p:nvPr>
        </p:nvSpPr>
        <p:spPr>
          <a:xfrm>
            <a:off x="677334" y="1596045"/>
            <a:ext cx="8596668" cy="44453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smtClean="0"/>
              <a:t>3/23/2023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3275917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53749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1537855"/>
            <a:ext cx="4184035" cy="4503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1537855"/>
            <a:ext cx="4184034" cy="45035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smtClean="0"/>
              <a:t>3/23/2023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057617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1545842"/>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122104"/>
            <a:ext cx="4185623" cy="391925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1545842"/>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122104"/>
            <a:ext cx="4185617" cy="391925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3/23/2023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2570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3/23/2023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075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3/23/2023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92769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3/23/2023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465339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89876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74523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34626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76682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56150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79880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3/23/2023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5437712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2460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734351"/>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1521229"/>
            <a:ext cx="8596668" cy="452013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3/23/2023</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221373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B5FD5-2B68-48E7-87F2-DCE6D8262F65}"/>
              </a:ext>
            </a:extLst>
          </p:cNvPr>
          <p:cNvSpPr>
            <a:spLocks noGrp="1"/>
          </p:cNvSpPr>
          <p:nvPr>
            <p:ph type="ctrTitle"/>
          </p:nvPr>
        </p:nvSpPr>
        <p:spPr/>
        <p:txBody>
          <a:bodyPr/>
          <a:lstStyle/>
          <a:p>
            <a:r>
              <a:rPr lang="en-US" dirty="0"/>
              <a:t>Activity Diagrams</a:t>
            </a:r>
            <a:endParaRPr lang="en-CA" dirty="0"/>
          </a:p>
        </p:txBody>
      </p:sp>
      <p:sp>
        <p:nvSpPr>
          <p:cNvPr id="3" name="Subtitle 2">
            <a:extLst>
              <a:ext uri="{FF2B5EF4-FFF2-40B4-BE49-F238E27FC236}">
                <a16:creationId xmlns:a16="http://schemas.microsoft.com/office/drawing/2014/main" id="{3D59D5A6-A665-4BA5-AC59-590437D46785}"/>
              </a:ext>
            </a:extLst>
          </p:cNvPr>
          <p:cNvSpPr>
            <a:spLocks noGrp="1"/>
          </p:cNvSpPr>
          <p:nvPr>
            <p:ph type="subTitle" idx="1"/>
          </p:nvPr>
        </p:nvSpPr>
        <p:spPr/>
        <p:txBody>
          <a:bodyPr/>
          <a:lstStyle/>
          <a:p>
            <a:r>
              <a:rPr lang="en-US" dirty="0"/>
              <a:t>Practices and Structures in SYD466</a:t>
            </a:r>
            <a:endParaRPr lang="en-CA" dirty="0"/>
          </a:p>
        </p:txBody>
      </p:sp>
    </p:spTree>
    <p:extLst>
      <p:ext uri="{BB962C8B-B14F-4D97-AF65-F5344CB8AC3E}">
        <p14:creationId xmlns:p14="http://schemas.microsoft.com/office/powerpoint/2010/main" val="3742025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32291-D17B-487F-B9D8-FF32DA517E4C}"/>
              </a:ext>
            </a:extLst>
          </p:cNvPr>
          <p:cNvSpPr>
            <a:spLocks noGrp="1"/>
          </p:cNvSpPr>
          <p:nvPr>
            <p:ph type="title"/>
          </p:nvPr>
        </p:nvSpPr>
        <p:spPr/>
        <p:txBody>
          <a:bodyPr/>
          <a:lstStyle/>
          <a:p>
            <a:r>
              <a:rPr lang="en-US" dirty="0"/>
              <a:t>Introductory Notes</a:t>
            </a:r>
            <a:endParaRPr lang="en-CA" dirty="0"/>
          </a:p>
        </p:txBody>
      </p:sp>
      <p:sp>
        <p:nvSpPr>
          <p:cNvPr id="3" name="Content Placeholder 2">
            <a:extLst>
              <a:ext uri="{FF2B5EF4-FFF2-40B4-BE49-F238E27FC236}">
                <a16:creationId xmlns:a16="http://schemas.microsoft.com/office/drawing/2014/main" id="{B8DB9B53-1896-4D8D-AF88-3311850DAC62}"/>
              </a:ext>
            </a:extLst>
          </p:cNvPr>
          <p:cNvSpPr>
            <a:spLocks noGrp="1"/>
          </p:cNvSpPr>
          <p:nvPr>
            <p:ph idx="1"/>
          </p:nvPr>
        </p:nvSpPr>
        <p:spPr/>
        <p:txBody>
          <a:bodyPr/>
          <a:lstStyle/>
          <a:p>
            <a:pPr marL="0" indent="0">
              <a:buNone/>
            </a:pPr>
            <a:r>
              <a:rPr lang="en-US" dirty="0"/>
              <a:t>Activity Diagrams are very flexible and there are many ways to design a system</a:t>
            </a:r>
          </a:p>
          <a:p>
            <a:pPr marL="0" indent="0">
              <a:buNone/>
            </a:pPr>
            <a:r>
              <a:rPr lang="en-US" dirty="0"/>
              <a:t>In the interests of making it more streamlined to learn and work with, we have a single set of standard structures that we will be using in the Systems stream.</a:t>
            </a:r>
          </a:p>
          <a:p>
            <a:pPr marL="0" indent="0">
              <a:buNone/>
            </a:pPr>
            <a:r>
              <a:rPr lang="en-US" dirty="0"/>
              <a:t>You may notice different structures and patterns in other examples. This is fine, systems are complex and unique!</a:t>
            </a:r>
            <a:endParaRPr lang="en-CA" dirty="0"/>
          </a:p>
        </p:txBody>
      </p:sp>
    </p:spTree>
    <p:extLst>
      <p:ext uri="{BB962C8B-B14F-4D97-AF65-F5344CB8AC3E}">
        <p14:creationId xmlns:p14="http://schemas.microsoft.com/office/powerpoint/2010/main" val="2491341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425FE-FE2C-4373-A1C7-55B9C72330A2}"/>
              </a:ext>
            </a:extLst>
          </p:cNvPr>
          <p:cNvSpPr>
            <a:spLocks noGrp="1"/>
          </p:cNvSpPr>
          <p:nvPr>
            <p:ph type="title"/>
          </p:nvPr>
        </p:nvSpPr>
        <p:spPr/>
        <p:txBody>
          <a:bodyPr/>
          <a:lstStyle/>
          <a:p>
            <a:r>
              <a:rPr lang="en-US" dirty="0"/>
              <a:t>Actions</a:t>
            </a:r>
            <a:endParaRPr lang="en-CA" dirty="0"/>
          </a:p>
        </p:txBody>
      </p:sp>
      <p:sp>
        <p:nvSpPr>
          <p:cNvPr id="3" name="Content Placeholder 2">
            <a:extLst>
              <a:ext uri="{FF2B5EF4-FFF2-40B4-BE49-F238E27FC236}">
                <a16:creationId xmlns:a16="http://schemas.microsoft.com/office/drawing/2014/main" id="{D562809A-D8E8-4CEB-A8F6-198FFFD02D73}"/>
              </a:ext>
            </a:extLst>
          </p:cNvPr>
          <p:cNvSpPr>
            <a:spLocks noGrp="1"/>
          </p:cNvSpPr>
          <p:nvPr>
            <p:ph idx="1"/>
          </p:nvPr>
        </p:nvSpPr>
        <p:spPr/>
        <p:txBody>
          <a:bodyPr/>
          <a:lstStyle/>
          <a:p>
            <a:r>
              <a:rPr lang="en-US" dirty="0"/>
              <a:t>Should be unique</a:t>
            </a:r>
          </a:p>
          <a:p>
            <a:r>
              <a:rPr lang="en-US" dirty="0"/>
              <a:t>Should be meaningful</a:t>
            </a:r>
          </a:p>
          <a:p>
            <a:r>
              <a:rPr lang="en-US" dirty="0"/>
              <a:t>Should be atomic – do not try to do too much in one action</a:t>
            </a:r>
            <a:endParaRPr lang="en-CA" dirty="0"/>
          </a:p>
        </p:txBody>
      </p:sp>
      <p:pic>
        <p:nvPicPr>
          <p:cNvPr id="8" name="Picture 7">
            <a:extLst>
              <a:ext uri="{FF2B5EF4-FFF2-40B4-BE49-F238E27FC236}">
                <a16:creationId xmlns:a16="http://schemas.microsoft.com/office/drawing/2014/main" id="{5D0134B2-C04D-438B-B6CB-A9490567F28E}"/>
              </a:ext>
            </a:extLst>
          </p:cNvPr>
          <p:cNvPicPr>
            <a:picLocks noChangeAspect="1"/>
          </p:cNvPicPr>
          <p:nvPr/>
        </p:nvPicPr>
        <p:blipFill rotWithShape="1">
          <a:blip r:embed="rId2"/>
          <a:srcRect r="17925" b="64953"/>
          <a:stretch/>
        </p:blipFill>
        <p:spPr>
          <a:xfrm>
            <a:off x="5980296" y="3429000"/>
            <a:ext cx="3173035" cy="1411075"/>
          </a:xfrm>
          <a:prstGeom prst="rect">
            <a:avLst/>
          </a:prstGeom>
        </p:spPr>
      </p:pic>
      <p:sp>
        <p:nvSpPr>
          <p:cNvPr id="10" name="Multiplication Sign 9">
            <a:extLst>
              <a:ext uri="{FF2B5EF4-FFF2-40B4-BE49-F238E27FC236}">
                <a16:creationId xmlns:a16="http://schemas.microsoft.com/office/drawing/2014/main" id="{36D71D6C-EAD6-416C-A5A2-F074AD23467B}"/>
              </a:ext>
            </a:extLst>
          </p:cNvPr>
          <p:cNvSpPr/>
          <p:nvPr/>
        </p:nvSpPr>
        <p:spPr>
          <a:xfrm>
            <a:off x="5871093" y="2493418"/>
            <a:ext cx="3282238" cy="3282238"/>
          </a:xfrm>
          <a:prstGeom prst="mathMultiply">
            <a:avLst>
              <a:gd name="adj1" fmla="val 3764"/>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181340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BAE74-5447-4E63-A23D-20069F06A851}"/>
              </a:ext>
            </a:extLst>
          </p:cNvPr>
          <p:cNvSpPr>
            <a:spLocks noGrp="1"/>
          </p:cNvSpPr>
          <p:nvPr>
            <p:ph type="title"/>
          </p:nvPr>
        </p:nvSpPr>
        <p:spPr/>
        <p:txBody>
          <a:bodyPr/>
          <a:lstStyle/>
          <a:p>
            <a:r>
              <a:rPr lang="en-US" dirty="0"/>
              <a:t>Actions to avoid</a:t>
            </a:r>
            <a:endParaRPr lang="en-CA" dirty="0"/>
          </a:p>
        </p:txBody>
      </p:sp>
      <p:sp>
        <p:nvSpPr>
          <p:cNvPr id="3" name="Content Placeholder 2">
            <a:extLst>
              <a:ext uri="{FF2B5EF4-FFF2-40B4-BE49-F238E27FC236}">
                <a16:creationId xmlns:a16="http://schemas.microsoft.com/office/drawing/2014/main" id="{3F0838EC-62EA-4F29-B314-17BD91FF1BA9}"/>
              </a:ext>
            </a:extLst>
          </p:cNvPr>
          <p:cNvSpPr>
            <a:spLocks noGrp="1"/>
          </p:cNvSpPr>
          <p:nvPr>
            <p:ph idx="1"/>
          </p:nvPr>
        </p:nvSpPr>
        <p:spPr>
          <a:xfrm>
            <a:off x="677334" y="1596045"/>
            <a:ext cx="6419752" cy="4445318"/>
          </a:xfrm>
        </p:spPr>
        <p:txBody>
          <a:bodyPr/>
          <a:lstStyle/>
          <a:p>
            <a:pPr marL="0" indent="0">
              <a:buNone/>
            </a:pPr>
            <a:r>
              <a:rPr lang="en-US" dirty="0"/>
              <a:t>While there are exceptions, generally try to avoid the following:</a:t>
            </a:r>
          </a:p>
          <a:p>
            <a:r>
              <a:rPr lang="en-US" dirty="0"/>
              <a:t>Prompts – largely unnecessary, they are not usually meaningful actions</a:t>
            </a:r>
          </a:p>
          <a:p>
            <a:r>
              <a:rPr lang="en-US" dirty="0"/>
              <a:t>Data entry – unless it’s involving system interaction or otherwise complex, avoid it</a:t>
            </a:r>
          </a:p>
          <a:p>
            <a:r>
              <a:rPr lang="en-US" dirty="0"/>
              <a:t>UI – almost never necessary. Leave it to the UI designer!</a:t>
            </a:r>
          </a:p>
          <a:p>
            <a:r>
              <a:rPr lang="en-US" dirty="0"/>
              <a:t>Displays – a subset of UI. Rarely needed.</a:t>
            </a:r>
            <a:endParaRPr lang="en-CA" dirty="0"/>
          </a:p>
        </p:txBody>
      </p:sp>
      <p:grpSp>
        <p:nvGrpSpPr>
          <p:cNvPr id="12" name="Group 11">
            <a:extLst>
              <a:ext uri="{FF2B5EF4-FFF2-40B4-BE49-F238E27FC236}">
                <a16:creationId xmlns:a16="http://schemas.microsoft.com/office/drawing/2014/main" id="{6ED879D2-7889-4B15-9979-ADFC5D656A5C}"/>
              </a:ext>
            </a:extLst>
          </p:cNvPr>
          <p:cNvGrpSpPr/>
          <p:nvPr/>
        </p:nvGrpSpPr>
        <p:grpSpPr>
          <a:xfrm>
            <a:off x="7097086" y="739163"/>
            <a:ext cx="2876447" cy="5116019"/>
            <a:chOff x="7474591" y="1057945"/>
            <a:chExt cx="2876447" cy="5116019"/>
          </a:xfrm>
        </p:grpSpPr>
        <p:pic>
          <p:nvPicPr>
            <p:cNvPr id="7" name="Picture 6">
              <a:extLst>
                <a:ext uri="{FF2B5EF4-FFF2-40B4-BE49-F238E27FC236}">
                  <a16:creationId xmlns:a16="http://schemas.microsoft.com/office/drawing/2014/main" id="{43AC8216-FCDF-410C-83DC-5A5B49DC7D61}"/>
                </a:ext>
              </a:extLst>
            </p:cNvPr>
            <p:cNvPicPr>
              <a:picLocks noChangeAspect="1"/>
            </p:cNvPicPr>
            <p:nvPr/>
          </p:nvPicPr>
          <p:blipFill>
            <a:blip r:embed="rId2"/>
            <a:stretch>
              <a:fillRect/>
            </a:stretch>
          </p:blipFill>
          <p:spPr>
            <a:xfrm>
              <a:off x="7474591" y="1556491"/>
              <a:ext cx="2876447" cy="4072442"/>
            </a:xfrm>
            <a:prstGeom prst="rect">
              <a:avLst/>
            </a:prstGeom>
          </p:spPr>
        </p:pic>
        <p:sp>
          <p:nvSpPr>
            <p:cNvPr id="8" name="Multiplication Sign 7">
              <a:extLst>
                <a:ext uri="{FF2B5EF4-FFF2-40B4-BE49-F238E27FC236}">
                  <a16:creationId xmlns:a16="http://schemas.microsoft.com/office/drawing/2014/main" id="{4A5CD844-D813-44C9-BFEE-5D368820BE59}"/>
                </a:ext>
              </a:extLst>
            </p:cNvPr>
            <p:cNvSpPr/>
            <p:nvPr/>
          </p:nvSpPr>
          <p:spPr>
            <a:xfrm>
              <a:off x="8040359" y="1057945"/>
              <a:ext cx="1744910" cy="1744910"/>
            </a:xfrm>
            <a:prstGeom prst="mathMultiply">
              <a:avLst>
                <a:gd name="adj1" fmla="val 3764"/>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sp>
          <p:nvSpPr>
            <p:cNvPr id="9" name="Multiplication Sign 8">
              <a:extLst>
                <a:ext uri="{FF2B5EF4-FFF2-40B4-BE49-F238E27FC236}">
                  <a16:creationId xmlns:a16="http://schemas.microsoft.com/office/drawing/2014/main" id="{ABE6D1F8-7DEC-419C-98BE-74E895E6D756}"/>
                </a:ext>
              </a:extLst>
            </p:cNvPr>
            <p:cNvSpPr/>
            <p:nvPr/>
          </p:nvSpPr>
          <p:spPr>
            <a:xfrm>
              <a:off x="8040359" y="2160589"/>
              <a:ext cx="1744910" cy="1744910"/>
            </a:xfrm>
            <a:prstGeom prst="mathMultiply">
              <a:avLst>
                <a:gd name="adj1" fmla="val 3764"/>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sp>
          <p:nvSpPr>
            <p:cNvPr id="10" name="Multiplication Sign 9">
              <a:extLst>
                <a:ext uri="{FF2B5EF4-FFF2-40B4-BE49-F238E27FC236}">
                  <a16:creationId xmlns:a16="http://schemas.microsoft.com/office/drawing/2014/main" id="{1931CD75-1BF3-4ADA-807F-A5D330E0AB13}"/>
                </a:ext>
              </a:extLst>
            </p:cNvPr>
            <p:cNvSpPr/>
            <p:nvPr/>
          </p:nvSpPr>
          <p:spPr>
            <a:xfrm>
              <a:off x="8040359" y="3301401"/>
              <a:ext cx="1744910" cy="1744910"/>
            </a:xfrm>
            <a:prstGeom prst="mathMultiply">
              <a:avLst>
                <a:gd name="adj1" fmla="val 3764"/>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sp>
          <p:nvSpPr>
            <p:cNvPr id="11" name="Multiplication Sign 10">
              <a:extLst>
                <a:ext uri="{FF2B5EF4-FFF2-40B4-BE49-F238E27FC236}">
                  <a16:creationId xmlns:a16="http://schemas.microsoft.com/office/drawing/2014/main" id="{FE8DCE18-A1E0-4B8A-A3E3-E6F6F0B923CC}"/>
                </a:ext>
              </a:extLst>
            </p:cNvPr>
            <p:cNvSpPr/>
            <p:nvPr/>
          </p:nvSpPr>
          <p:spPr>
            <a:xfrm>
              <a:off x="8040359" y="4429054"/>
              <a:ext cx="1744910" cy="1744910"/>
            </a:xfrm>
            <a:prstGeom prst="mathMultiply">
              <a:avLst>
                <a:gd name="adj1" fmla="val 3764"/>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grpSp>
    </p:spTree>
    <p:extLst>
      <p:ext uri="{BB962C8B-B14F-4D97-AF65-F5344CB8AC3E}">
        <p14:creationId xmlns:p14="http://schemas.microsoft.com/office/powerpoint/2010/main" val="837678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C1DAF4F-DDDE-43D0-AF7A-39DEBDA37CE5}"/>
              </a:ext>
            </a:extLst>
          </p:cNvPr>
          <p:cNvPicPr>
            <a:picLocks noChangeAspect="1"/>
          </p:cNvPicPr>
          <p:nvPr/>
        </p:nvPicPr>
        <p:blipFill rotWithShape="1">
          <a:blip r:embed="rId2"/>
          <a:srcRect l="14353" t="20669"/>
          <a:stretch/>
        </p:blipFill>
        <p:spPr>
          <a:xfrm>
            <a:off x="1144289" y="2978093"/>
            <a:ext cx="7045762" cy="2959554"/>
          </a:xfrm>
          <a:prstGeom prst="rect">
            <a:avLst/>
          </a:prstGeom>
        </p:spPr>
      </p:pic>
      <p:sp>
        <p:nvSpPr>
          <p:cNvPr id="2" name="Title 1">
            <a:extLst>
              <a:ext uri="{FF2B5EF4-FFF2-40B4-BE49-F238E27FC236}">
                <a16:creationId xmlns:a16="http://schemas.microsoft.com/office/drawing/2014/main" id="{0A681D68-2C1E-4E96-85FB-E19B91A73BDD}"/>
              </a:ext>
            </a:extLst>
          </p:cNvPr>
          <p:cNvSpPr>
            <a:spLocks noGrp="1"/>
          </p:cNvSpPr>
          <p:nvPr>
            <p:ph type="title"/>
          </p:nvPr>
        </p:nvSpPr>
        <p:spPr/>
        <p:txBody>
          <a:bodyPr/>
          <a:lstStyle/>
          <a:p>
            <a:r>
              <a:rPr lang="en-US" dirty="0"/>
              <a:t>Decisions</a:t>
            </a:r>
            <a:endParaRPr lang="en-CA" dirty="0"/>
          </a:p>
        </p:txBody>
      </p:sp>
      <p:sp>
        <p:nvSpPr>
          <p:cNvPr id="3" name="Content Placeholder 2">
            <a:extLst>
              <a:ext uri="{FF2B5EF4-FFF2-40B4-BE49-F238E27FC236}">
                <a16:creationId xmlns:a16="http://schemas.microsoft.com/office/drawing/2014/main" id="{41623897-CC1E-4BDE-9B3A-7C2A0224E4AD}"/>
              </a:ext>
            </a:extLst>
          </p:cNvPr>
          <p:cNvSpPr>
            <a:spLocks noGrp="1"/>
          </p:cNvSpPr>
          <p:nvPr>
            <p:ph idx="1"/>
          </p:nvPr>
        </p:nvSpPr>
        <p:spPr/>
        <p:txBody>
          <a:bodyPr/>
          <a:lstStyle/>
          <a:p>
            <a:r>
              <a:rPr lang="en-US" dirty="0"/>
              <a:t>Decisions must have only two paths leading out – a true/yes and a false/no</a:t>
            </a:r>
          </a:p>
          <a:p>
            <a:r>
              <a:rPr lang="en-US" dirty="0"/>
              <a:t>Decisions may be used instead of a simple action</a:t>
            </a:r>
            <a:endParaRPr lang="en-CA" dirty="0"/>
          </a:p>
        </p:txBody>
      </p:sp>
      <p:sp>
        <p:nvSpPr>
          <p:cNvPr id="9" name="Rectangle 8">
            <a:extLst>
              <a:ext uri="{FF2B5EF4-FFF2-40B4-BE49-F238E27FC236}">
                <a16:creationId xmlns:a16="http://schemas.microsoft.com/office/drawing/2014/main" id="{83714D3A-67F4-476A-B157-CDD61C077F90}"/>
              </a:ext>
            </a:extLst>
          </p:cNvPr>
          <p:cNvSpPr/>
          <p:nvPr/>
        </p:nvSpPr>
        <p:spPr>
          <a:xfrm>
            <a:off x="5041783" y="3900881"/>
            <a:ext cx="1054217" cy="73823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sp>
        <p:nvSpPr>
          <p:cNvPr id="6" name="Rectangle 5">
            <a:extLst>
              <a:ext uri="{FF2B5EF4-FFF2-40B4-BE49-F238E27FC236}">
                <a16:creationId xmlns:a16="http://schemas.microsoft.com/office/drawing/2014/main" id="{577CDDCC-F3CB-4B4A-8161-C796795C8E08}"/>
              </a:ext>
            </a:extLst>
          </p:cNvPr>
          <p:cNvSpPr/>
          <p:nvPr/>
        </p:nvSpPr>
        <p:spPr>
          <a:xfrm>
            <a:off x="4497011" y="3338972"/>
            <a:ext cx="957313" cy="1862048"/>
          </a:xfrm>
          <a:prstGeom prst="rect">
            <a:avLst/>
          </a:prstGeom>
        </p:spPr>
        <p:txBody>
          <a:bodyPr wrap="none">
            <a:spAutoFit/>
          </a:bodyPr>
          <a:lstStyle/>
          <a:p>
            <a:r>
              <a:rPr lang="en-US" sz="11500" dirty="0">
                <a:solidFill>
                  <a:schemeClr val="accent1"/>
                </a:solidFill>
              </a:rPr>
              <a:t>=</a:t>
            </a:r>
            <a:endParaRPr lang="en-CA" sz="11500" dirty="0">
              <a:solidFill>
                <a:schemeClr val="accent1"/>
              </a:solidFill>
            </a:endParaRPr>
          </a:p>
        </p:txBody>
      </p:sp>
    </p:spTree>
    <p:extLst>
      <p:ext uri="{BB962C8B-B14F-4D97-AF65-F5344CB8AC3E}">
        <p14:creationId xmlns:p14="http://schemas.microsoft.com/office/powerpoint/2010/main" val="169667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EA4F2-F84D-4289-8428-24E6E72F4A8B}"/>
              </a:ext>
            </a:extLst>
          </p:cNvPr>
          <p:cNvSpPr>
            <a:spLocks noGrp="1"/>
          </p:cNvSpPr>
          <p:nvPr>
            <p:ph type="title"/>
          </p:nvPr>
        </p:nvSpPr>
        <p:spPr>
          <a:xfrm>
            <a:off x="677334" y="609600"/>
            <a:ext cx="8596668" cy="734351"/>
          </a:xfrm>
        </p:spPr>
        <p:txBody>
          <a:bodyPr/>
          <a:lstStyle/>
          <a:p>
            <a:r>
              <a:rPr lang="en-US" dirty="0"/>
              <a:t>Fork and Join</a:t>
            </a:r>
            <a:endParaRPr lang="en-CA" dirty="0"/>
          </a:p>
        </p:txBody>
      </p:sp>
      <p:sp>
        <p:nvSpPr>
          <p:cNvPr id="6" name="Text Placeholder 5">
            <a:extLst>
              <a:ext uri="{FF2B5EF4-FFF2-40B4-BE49-F238E27FC236}">
                <a16:creationId xmlns:a16="http://schemas.microsoft.com/office/drawing/2014/main" id="{CF855508-E7C0-4595-865E-97EC234C74DB}"/>
              </a:ext>
            </a:extLst>
          </p:cNvPr>
          <p:cNvSpPr>
            <a:spLocks noGrp="1"/>
          </p:cNvSpPr>
          <p:nvPr>
            <p:ph type="body" idx="1"/>
          </p:nvPr>
        </p:nvSpPr>
        <p:spPr/>
        <p:txBody>
          <a:bodyPr/>
          <a:lstStyle/>
          <a:p>
            <a:r>
              <a:rPr lang="en-US" dirty="0"/>
              <a:t>Action A, then B, then C</a:t>
            </a:r>
            <a:endParaRPr lang="en-CA" dirty="0"/>
          </a:p>
        </p:txBody>
      </p:sp>
      <p:pic>
        <p:nvPicPr>
          <p:cNvPr id="15" name="Content Placeholder 14">
            <a:extLst>
              <a:ext uri="{FF2B5EF4-FFF2-40B4-BE49-F238E27FC236}">
                <a16:creationId xmlns:a16="http://schemas.microsoft.com/office/drawing/2014/main" id="{29A0640A-1465-4E47-A201-EF923E1B75BC}"/>
              </a:ext>
            </a:extLst>
          </p:cNvPr>
          <p:cNvPicPr>
            <a:picLocks noGrp="1" noChangeAspect="1"/>
          </p:cNvPicPr>
          <p:nvPr>
            <p:ph sz="half" idx="2"/>
          </p:nvPr>
        </p:nvPicPr>
        <p:blipFill>
          <a:blip r:embed="rId2"/>
          <a:stretch>
            <a:fillRect/>
          </a:stretch>
        </p:blipFill>
        <p:spPr>
          <a:xfrm>
            <a:off x="1584449" y="2870674"/>
            <a:ext cx="2368301" cy="2423165"/>
          </a:xfrm>
        </p:spPr>
      </p:pic>
      <p:sp>
        <p:nvSpPr>
          <p:cNvPr id="8" name="Text Placeholder 7">
            <a:extLst>
              <a:ext uri="{FF2B5EF4-FFF2-40B4-BE49-F238E27FC236}">
                <a16:creationId xmlns:a16="http://schemas.microsoft.com/office/drawing/2014/main" id="{ACDD2F51-0F44-4E69-90FF-5A8C4270A1B6}"/>
              </a:ext>
            </a:extLst>
          </p:cNvPr>
          <p:cNvSpPr>
            <a:spLocks noGrp="1"/>
          </p:cNvSpPr>
          <p:nvPr>
            <p:ph type="body" sz="quarter" idx="3"/>
          </p:nvPr>
        </p:nvSpPr>
        <p:spPr>
          <a:xfrm>
            <a:off x="4861368" y="1545842"/>
            <a:ext cx="4736752" cy="576262"/>
          </a:xfrm>
        </p:spPr>
        <p:txBody>
          <a:bodyPr/>
          <a:lstStyle/>
          <a:p>
            <a:r>
              <a:rPr lang="en-US" dirty="0"/>
              <a:t>Actions A, B, and C in any order</a:t>
            </a:r>
            <a:endParaRPr lang="en-CA" dirty="0"/>
          </a:p>
        </p:txBody>
      </p:sp>
      <p:pic>
        <p:nvPicPr>
          <p:cNvPr id="13" name="Content Placeholder 12">
            <a:extLst>
              <a:ext uri="{FF2B5EF4-FFF2-40B4-BE49-F238E27FC236}">
                <a16:creationId xmlns:a16="http://schemas.microsoft.com/office/drawing/2014/main" id="{4EF460F5-8FDC-4FD1-9A2D-3AC94D79D57F}"/>
              </a:ext>
            </a:extLst>
          </p:cNvPr>
          <p:cNvPicPr>
            <a:picLocks noGrp="1" noChangeAspect="1"/>
          </p:cNvPicPr>
          <p:nvPr>
            <p:ph sz="quarter" idx="4"/>
          </p:nvPr>
        </p:nvPicPr>
        <p:blipFill>
          <a:blip r:embed="rId3"/>
          <a:stretch>
            <a:fillRect/>
          </a:stretch>
        </p:blipFill>
        <p:spPr>
          <a:xfrm>
            <a:off x="5769891" y="2436333"/>
            <a:ext cx="2368301" cy="3291847"/>
          </a:xfrm>
        </p:spPr>
      </p:pic>
      <p:sp>
        <p:nvSpPr>
          <p:cNvPr id="16" name="TextBox 15">
            <a:extLst>
              <a:ext uri="{FF2B5EF4-FFF2-40B4-BE49-F238E27FC236}">
                <a16:creationId xmlns:a16="http://schemas.microsoft.com/office/drawing/2014/main" id="{34CE769A-F61B-4C62-AEAA-A631E271B538}"/>
              </a:ext>
            </a:extLst>
          </p:cNvPr>
          <p:cNvSpPr txBox="1"/>
          <p:nvPr/>
        </p:nvSpPr>
        <p:spPr>
          <a:xfrm>
            <a:off x="8421051" y="3466703"/>
            <a:ext cx="1848873" cy="1231106"/>
          </a:xfrm>
          <a:prstGeom prst="rect">
            <a:avLst/>
          </a:prstGeom>
          <a:solidFill>
            <a:schemeClr val="accent5">
              <a:lumMod val="75000"/>
              <a:alpha val="90000"/>
            </a:schemeClr>
          </a:solidFill>
          <a:ln w="50800"/>
        </p:spPr>
        <p:style>
          <a:lnRef idx="3">
            <a:schemeClr val="lt1"/>
          </a:lnRef>
          <a:fillRef idx="1">
            <a:schemeClr val="accent6"/>
          </a:fillRef>
          <a:effectRef idx="1">
            <a:schemeClr val="accent6"/>
          </a:effectRef>
          <a:fontRef idx="minor">
            <a:schemeClr val="lt1"/>
          </a:fontRef>
        </p:style>
        <p:txBody>
          <a:bodyPr wrap="square" lIns="182880" tIns="182880" rIns="182880" bIns="182880" rtlCol="0">
            <a:spAutoFit/>
          </a:bodyPr>
          <a:lstStyle/>
          <a:p>
            <a:r>
              <a:rPr lang="en-US" sz="1400" dirty="0">
                <a:solidFill>
                  <a:schemeClr val="bg1"/>
                </a:solidFill>
              </a:rPr>
              <a:t>Note: all three of these actions are still required, none are optional</a:t>
            </a:r>
            <a:endParaRPr lang="en-CA" sz="1400" dirty="0">
              <a:solidFill>
                <a:schemeClr val="bg1"/>
              </a:solidFill>
            </a:endParaRPr>
          </a:p>
        </p:txBody>
      </p:sp>
    </p:spTree>
    <p:extLst>
      <p:ext uri="{BB962C8B-B14F-4D97-AF65-F5344CB8AC3E}">
        <p14:creationId xmlns:p14="http://schemas.microsoft.com/office/powerpoint/2010/main" val="597939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F5D2CC-3633-4EE3-821A-321073684CF7}"/>
              </a:ext>
            </a:extLst>
          </p:cNvPr>
          <p:cNvSpPr>
            <a:spLocks noGrp="1"/>
          </p:cNvSpPr>
          <p:nvPr>
            <p:ph type="title"/>
          </p:nvPr>
        </p:nvSpPr>
        <p:spPr/>
        <p:txBody>
          <a:bodyPr/>
          <a:lstStyle/>
          <a:p>
            <a:r>
              <a:rPr lang="en-US" dirty="0"/>
              <a:t>How many confirmations do you need?</a:t>
            </a:r>
            <a:endParaRPr lang="en-CA" dirty="0"/>
          </a:p>
        </p:txBody>
      </p:sp>
      <p:sp>
        <p:nvSpPr>
          <p:cNvPr id="6" name="Text Placeholder 5">
            <a:extLst>
              <a:ext uri="{FF2B5EF4-FFF2-40B4-BE49-F238E27FC236}">
                <a16:creationId xmlns:a16="http://schemas.microsoft.com/office/drawing/2014/main" id="{7763DCC3-5CF4-4F37-829A-C95AF10C7111}"/>
              </a:ext>
            </a:extLst>
          </p:cNvPr>
          <p:cNvSpPr>
            <a:spLocks noGrp="1"/>
          </p:cNvSpPr>
          <p:nvPr>
            <p:ph type="body" sz="quarter" idx="13"/>
          </p:nvPr>
        </p:nvSpPr>
        <p:spPr/>
        <p:txBody>
          <a:bodyPr/>
          <a:lstStyle/>
          <a:p>
            <a:endParaRPr lang="en-CA" dirty="0"/>
          </a:p>
        </p:txBody>
      </p:sp>
      <p:sp>
        <p:nvSpPr>
          <p:cNvPr id="5" name="Text Placeholder 4">
            <a:extLst>
              <a:ext uri="{FF2B5EF4-FFF2-40B4-BE49-F238E27FC236}">
                <a16:creationId xmlns:a16="http://schemas.microsoft.com/office/drawing/2014/main" id="{22CF4FB7-90A7-4B69-94A4-37CF42D42ABF}"/>
              </a:ext>
            </a:extLst>
          </p:cNvPr>
          <p:cNvSpPr>
            <a:spLocks noGrp="1"/>
          </p:cNvSpPr>
          <p:nvPr>
            <p:ph type="body" idx="1"/>
          </p:nvPr>
        </p:nvSpPr>
        <p:spPr/>
        <p:txBody>
          <a:bodyPr/>
          <a:lstStyle/>
          <a:p>
            <a:r>
              <a:rPr lang="en-US" dirty="0"/>
              <a:t>Be aware of unnecessary actions in your flow – do you have too many steps?</a:t>
            </a:r>
            <a:endParaRPr lang="en-CA" dirty="0"/>
          </a:p>
          <a:p>
            <a:endParaRPr lang="en-CA" dirty="0"/>
          </a:p>
        </p:txBody>
      </p:sp>
    </p:spTree>
    <p:extLst>
      <p:ext uri="{BB962C8B-B14F-4D97-AF65-F5344CB8AC3E}">
        <p14:creationId xmlns:p14="http://schemas.microsoft.com/office/powerpoint/2010/main" val="2240714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199DDE-D780-492C-94FE-C3A8D5B3B3BE}"/>
              </a:ext>
            </a:extLst>
          </p:cNvPr>
          <p:cNvSpPr>
            <a:spLocks noGrp="1"/>
          </p:cNvSpPr>
          <p:nvPr>
            <p:ph type="title"/>
          </p:nvPr>
        </p:nvSpPr>
        <p:spPr/>
        <p:txBody>
          <a:bodyPr/>
          <a:lstStyle/>
          <a:p>
            <a:r>
              <a:rPr lang="en-US" dirty="0"/>
              <a:t>Reminders</a:t>
            </a:r>
            <a:endParaRPr lang="en-CA" dirty="0"/>
          </a:p>
        </p:txBody>
      </p:sp>
      <p:sp>
        <p:nvSpPr>
          <p:cNvPr id="6" name="Content Placeholder 5">
            <a:extLst>
              <a:ext uri="{FF2B5EF4-FFF2-40B4-BE49-F238E27FC236}">
                <a16:creationId xmlns:a16="http://schemas.microsoft.com/office/drawing/2014/main" id="{BA7CD9FF-2634-4E7A-BF5A-D5E5FA300714}"/>
              </a:ext>
            </a:extLst>
          </p:cNvPr>
          <p:cNvSpPr>
            <a:spLocks noGrp="1"/>
          </p:cNvSpPr>
          <p:nvPr>
            <p:ph idx="1"/>
          </p:nvPr>
        </p:nvSpPr>
        <p:spPr/>
        <p:txBody>
          <a:bodyPr/>
          <a:lstStyle/>
          <a:p>
            <a:r>
              <a:rPr lang="en-US" dirty="0"/>
              <a:t>Consider all the paths through your logic.</a:t>
            </a:r>
          </a:p>
          <a:p>
            <a:pPr lvl="1">
              <a:buFont typeface="Wingdings" panose="05000000000000000000" pitchFamily="2" charset="2"/>
              <a:buChar char="§"/>
            </a:pPr>
            <a:r>
              <a:rPr lang="en-US" dirty="0"/>
              <a:t>What happens when data isn’t found?</a:t>
            </a:r>
          </a:p>
          <a:p>
            <a:pPr lvl="1">
              <a:buFont typeface="Wingdings" panose="05000000000000000000" pitchFamily="2" charset="2"/>
              <a:buChar char="§"/>
            </a:pPr>
            <a:r>
              <a:rPr lang="en-US" dirty="0"/>
              <a:t>What about if it doesn’t validate?</a:t>
            </a:r>
          </a:p>
          <a:p>
            <a:pPr lvl="1">
              <a:buFont typeface="Wingdings" panose="05000000000000000000" pitchFamily="2" charset="2"/>
              <a:buChar char="§"/>
            </a:pPr>
            <a:r>
              <a:rPr lang="en-US" dirty="0"/>
              <a:t>What choices does the user have?</a:t>
            </a:r>
          </a:p>
          <a:p>
            <a:r>
              <a:rPr lang="en-US" dirty="0"/>
              <a:t>Keep your design unified! If you have an action in your activity diagram, you will be expected to model it in you specification and sequence diagram, and reference in your class diagram if necessary.</a:t>
            </a:r>
            <a:endParaRPr lang="en-CA" dirty="0"/>
          </a:p>
        </p:txBody>
      </p:sp>
    </p:spTree>
    <p:extLst>
      <p:ext uri="{BB962C8B-B14F-4D97-AF65-F5344CB8AC3E}">
        <p14:creationId xmlns:p14="http://schemas.microsoft.com/office/powerpoint/2010/main" val="4198893893"/>
      </p:ext>
    </p:extLst>
  </p:cSld>
  <p:clrMapOvr>
    <a:masterClrMapping/>
  </p:clrMapOvr>
</p:sld>
</file>

<file path=ppt/theme/theme1.xml><?xml version="1.0" encoding="utf-8"?>
<a:theme xmlns:a="http://schemas.openxmlformats.org/drawingml/2006/main" name="Facet">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65</TotalTime>
  <Words>315</Words>
  <Application>Microsoft Office PowerPoint</Application>
  <PresentationFormat>Widescreen</PresentationFormat>
  <Paragraphs>32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Trebuchet MS</vt:lpstr>
      <vt:lpstr>Wingdings</vt:lpstr>
      <vt:lpstr>Wingdings 3</vt:lpstr>
      <vt:lpstr>Facet</vt:lpstr>
      <vt:lpstr>Activity Diagrams</vt:lpstr>
      <vt:lpstr>Introductory Notes</vt:lpstr>
      <vt:lpstr>Actions</vt:lpstr>
      <vt:lpstr>Actions to avoid</vt:lpstr>
      <vt:lpstr>Decisions</vt:lpstr>
      <vt:lpstr>Fork and Join</vt:lpstr>
      <vt:lpstr>How many confirmations do you need?</vt:lpstr>
      <vt:lpstr>Reminders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Activity Diagrams</dc:title>
  <dc:creator>Marc Gurwitz</dc:creator>
  <cp:lastModifiedBy>Marc Gurwitz</cp:lastModifiedBy>
  <cp:revision>8</cp:revision>
  <dcterms:created xsi:type="dcterms:W3CDTF">2023-03-23T18:23:14Z</dcterms:created>
  <dcterms:modified xsi:type="dcterms:W3CDTF">2023-03-23T19:34:13Z</dcterms:modified>
</cp:coreProperties>
</file>